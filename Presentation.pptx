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17" r:id="rId1"/>
  </p:sldMasterIdLst>
  <p:notesMasterIdLst>
    <p:notesMasterId r:id="rId17"/>
  </p:notesMasterIdLst>
  <p:sldIdLst>
    <p:sldId id="256" r:id="rId2"/>
    <p:sldId id="257" r:id="rId3"/>
    <p:sldId id="259" r:id="rId4"/>
    <p:sldId id="263" r:id="rId5"/>
    <p:sldId id="265" r:id="rId6"/>
    <p:sldId id="264" r:id="rId7"/>
    <p:sldId id="280" r:id="rId8"/>
    <p:sldId id="269" r:id="rId9"/>
    <p:sldId id="268" r:id="rId10"/>
    <p:sldId id="281" r:id="rId11"/>
    <p:sldId id="282" r:id="rId12"/>
    <p:sldId id="271" r:id="rId13"/>
    <p:sldId id="272" r:id="rId14"/>
    <p:sldId id="261" r:id="rId15"/>
    <p:sldId id="273"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43"/>
  </p:normalViewPr>
  <p:slideViewPr>
    <p:cSldViewPr snapToGrid="0" snapToObjects="1">
      <p:cViewPr varScale="1">
        <p:scale>
          <a:sx n="108" d="100"/>
          <a:sy n="108" d="100"/>
        </p:scale>
        <p:origin x="678" y="96"/>
      </p:cViewPr>
      <p:guideLst>
        <p:guide orient="horz" pos="232"/>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69DF09-2BEE-3146-9AC8-1578B7C2FBDF}" type="datetimeFigureOut">
              <a:rPr lang="es-MX" smtClean="0"/>
              <a:t>22/06/2019</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es-ES"/>
              <a:t>Editar los estilos de texto del patrón
Segundo nivel
Tercer nivel
Cuarto nivel
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231223-0DC5-2546-A5F9-10FA38B434CA}" type="slidenum">
              <a:rPr lang="es-MX" smtClean="0"/>
              <a:t>‹#›</a:t>
            </a:fld>
            <a:endParaRPr lang="es-MX"/>
          </a:p>
        </p:txBody>
      </p:sp>
    </p:spTree>
    <p:extLst>
      <p:ext uri="{BB962C8B-B14F-4D97-AF65-F5344CB8AC3E}">
        <p14:creationId xmlns:p14="http://schemas.microsoft.com/office/powerpoint/2010/main" val="3436809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0B231223-0DC5-2546-A5F9-10FA38B434CA}" type="slidenum">
              <a:rPr lang="es-MX" smtClean="0"/>
              <a:t>9</a:t>
            </a:fld>
            <a:endParaRPr lang="es-MX"/>
          </a:p>
        </p:txBody>
      </p:sp>
    </p:spTree>
    <p:extLst>
      <p:ext uri="{BB962C8B-B14F-4D97-AF65-F5344CB8AC3E}">
        <p14:creationId xmlns:p14="http://schemas.microsoft.com/office/powerpoint/2010/main" val="1886695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2812CFAA-D312-9846-8CF5-4B5AC70D616B}" type="datetime1">
              <a:rPr lang="es-MX" smtClean="0"/>
              <a:t>22/06/2019</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7EDAA5DF-D255-414A-BAD6-30287712E47C}" type="slidenum">
              <a:rPr lang="es-MX" smtClean="0"/>
              <a:t>‹#›</a:t>
            </a:fld>
            <a:endParaRPr lang="es-MX"/>
          </a:p>
        </p:txBody>
      </p:sp>
    </p:spTree>
    <p:extLst>
      <p:ext uri="{BB962C8B-B14F-4D97-AF65-F5344CB8AC3E}">
        <p14:creationId xmlns:p14="http://schemas.microsoft.com/office/powerpoint/2010/main" val="340659176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
Segundo nivel
Tercer nivel
Cuarto nivel
Quinto nivel</a:t>
            </a:r>
            <a:endParaRPr lang="en-US" dirty="0"/>
          </a:p>
        </p:txBody>
      </p:sp>
      <p:sp>
        <p:nvSpPr>
          <p:cNvPr id="7" name="Date Placeholder 6"/>
          <p:cNvSpPr>
            <a:spLocks noGrp="1"/>
          </p:cNvSpPr>
          <p:nvPr>
            <p:ph type="dt" sz="half" idx="10"/>
          </p:nvPr>
        </p:nvSpPr>
        <p:spPr/>
        <p:txBody>
          <a:bodyPr/>
          <a:lstStyle/>
          <a:p>
            <a:fld id="{C143C046-7D37-3E45-BCCD-AC1B40277EDF}" type="datetime1">
              <a:rPr lang="es-MX" smtClean="0"/>
              <a:t>22/06/2019</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7EDAA5DF-D255-414A-BAD6-30287712E47C}" type="slidenum">
              <a:rPr lang="es-MX" smtClean="0"/>
              <a:t>‹#›</a:t>
            </a:fld>
            <a:endParaRPr lang="es-MX"/>
          </a:p>
        </p:txBody>
      </p:sp>
    </p:spTree>
    <p:extLst>
      <p:ext uri="{BB962C8B-B14F-4D97-AF65-F5344CB8AC3E}">
        <p14:creationId xmlns:p14="http://schemas.microsoft.com/office/powerpoint/2010/main" val="3292167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
Segundo nivel
Tercer nivel
Cuarto nivel
Quinto nivel</a:t>
            </a:r>
            <a:endParaRPr lang="en-US" dirty="0"/>
          </a:p>
        </p:txBody>
      </p:sp>
      <p:sp>
        <p:nvSpPr>
          <p:cNvPr id="7" name="Date Placeholder 6"/>
          <p:cNvSpPr>
            <a:spLocks noGrp="1"/>
          </p:cNvSpPr>
          <p:nvPr>
            <p:ph type="dt" sz="half" idx="10"/>
          </p:nvPr>
        </p:nvSpPr>
        <p:spPr/>
        <p:txBody>
          <a:bodyPr/>
          <a:lstStyle/>
          <a:p>
            <a:fld id="{854BBF69-AA59-6349-B91B-99E6140ED48D}" type="datetime1">
              <a:rPr lang="es-MX" smtClean="0"/>
              <a:t>22/06/2019</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7EDAA5DF-D255-414A-BAD6-30287712E47C}" type="slidenum">
              <a:rPr lang="es-MX" smtClean="0"/>
              <a:t>‹#›</a:t>
            </a:fld>
            <a:endParaRPr lang="es-MX"/>
          </a:p>
        </p:txBody>
      </p:sp>
    </p:spTree>
    <p:extLst>
      <p:ext uri="{BB962C8B-B14F-4D97-AF65-F5344CB8AC3E}">
        <p14:creationId xmlns:p14="http://schemas.microsoft.com/office/powerpoint/2010/main" val="408705450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s-ES"/>
              <a:t>Editar los estilos de texto del patrón
Segundo nivel
Tercer nivel
Cuarto nivel
Quinto nivel</a:t>
            </a:r>
            <a:endParaRPr lang="en-US" dirty="0"/>
          </a:p>
        </p:txBody>
      </p:sp>
      <p:sp>
        <p:nvSpPr>
          <p:cNvPr id="8" name="Date Placeholder 7"/>
          <p:cNvSpPr>
            <a:spLocks noGrp="1"/>
          </p:cNvSpPr>
          <p:nvPr>
            <p:ph type="dt" sz="half" idx="10"/>
          </p:nvPr>
        </p:nvSpPr>
        <p:spPr/>
        <p:txBody>
          <a:bodyPr/>
          <a:lstStyle/>
          <a:p>
            <a:fld id="{43F45EDB-32A8-6D4D-9437-7DEAD52EC114}" type="datetime1">
              <a:rPr lang="es-MX" smtClean="0"/>
              <a:t>22/06/2019</a:t>
            </a:fld>
            <a:endParaRPr lang="es-MX"/>
          </a:p>
        </p:txBody>
      </p:sp>
      <p:sp>
        <p:nvSpPr>
          <p:cNvPr id="9" name="Footer Placeholder 8"/>
          <p:cNvSpPr>
            <a:spLocks noGrp="1"/>
          </p:cNvSpPr>
          <p:nvPr>
            <p:ph type="ftr" sz="quarter" idx="11"/>
          </p:nvPr>
        </p:nvSpPr>
        <p:spPr/>
        <p:txBody>
          <a:bodyPr/>
          <a:lstStyle/>
          <a:p>
            <a:endParaRPr lang="es-MX"/>
          </a:p>
        </p:txBody>
      </p:sp>
      <p:sp>
        <p:nvSpPr>
          <p:cNvPr id="10" name="Slide Number Placeholder 9"/>
          <p:cNvSpPr>
            <a:spLocks noGrp="1"/>
          </p:cNvSpPr>
          <p:nvPr>
            <p:ph type="sldNum" sz="quarter" idx="12"/>
          </p:nvPr>
        </p:nvSpPr>
        <p:spPr/>
        <p:txBody>
          <a:bodyPr/>
          <a:lstStyle/>
          <a:p>
            <a:fld id="{7EDAA5DF-D255-414A-BAD6-30287712E47C}" type="slidenum">
              <a:rPr lang="es-MX" smtClean="0"/>
              <a:t>‹#›</a:t>
            </a:fld>
            <a:endParaRPr lang="es-MX"/>
          </a:p>
        </p:txBody>
      </p:sp>
    </p:spTree>
    <p:extLst>
      <p:ext uri="{BB962C8B-B14F-4D97-AF65-F5344CB8AC3E}">
        <p14:creationId xmlns:p14="http://schemas.microsoft.com/office/powerpoint/2010/main" val="251942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1583436" y="3143250"/>
            <a:ext cx="4270248" cy="2596776"/>
          </a:xfrm>
        </p:spPr>
        <p:txBody>
          <a:bodyPr/>
          <a:lstStyle/>
          <a:p>
            <a:pPr lvl="0"/>
            <a:r>
              <a:rPr lang="es-ES"/>
              <a:t>Editar los estilos de texto del patrón
Segundo nivel
Tercer nivel
Cuarto nivel
Quinto nivel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s-ES"/>
              <a:t>Editar los estilos de texto del patrón
Segundo nivel
Tercer nivel
Cuarto nivel
Quinto nivel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7" name="Date Placeholder 6"/>
          <p:cNvSpPr>
            <a:spLocks noGrp="1"/>
          </p:cNvSpPr>
          <p:nvPr>
            <p:ph type="dt" sz="half" idx="10"/>
          </p:nvPr>
        </p:nvSpPr>
        <p:spPr/>
        <p:txBody>
          <a:bodyPr/>
          <a:lstStyle/>
          <a:p>
            <a:fld id="{847156C0-DA19-EA41-8E70-E896018389F5}" type="datetime1">
              <a:rPr lang="es-MX" smtClean="0"/>
              <a:t>22/06/2019</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7EDAA5DF-D255-414A-BAD6-30287712E47C}" type="slidenum">
              <a:rPr lang="es-MX" smtClean="0"/>
              <a:t>‹#›</a:t>
            </a:fld>
            <a:endParaRPr lang="es-MX"/>
          </a:p>
        </p:txBody>
      </p:sp>
      <p:sp>
        <p:nvSpPr>
          <p:cNvPr id="10" name="Title 9"/>
          <p:cNvSpPr>
            <a:spLocks noGrp="1"/>
          </p:cNvSpPr>
          <p:nvPr>
            <p:ph type="title"/>
          </p:nvPr>
        </p:nvSpPr>
        <p:spPr/>
        <p:txBody>
          <a:bodyPr/>
          <a:lstStyle/>
          <a:p>
            <a:r>
              <a:rPr lang="es-ES"/>
              <a:t>Haga clic para modificar el estilo de título del patrón</a:t>
            </a:r>
            <a:endParaRPr lang="en-US" dirty="0"/>
          </a:p>
        </p:txBody>
      </p:sp>
    </p:spTree>
    <p:extLst>
      <p:ext uri="{BB962C8B-B14F-4D97-AF65-F5344CB8AC3E}">
        <p14:creationId xmlns:p14="http://schemas.microsoft.com/office/powerpoint/2010/main" val="2893910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B048D2B-3F8A-EA43-A7B3-F756037B84F5}" type="datetime1">
              <a:rPr lang="es-MX" smtClean="0"/>
              <a:t>22/06/2019</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7EDAA5DF-D255-414A-BAD6-30287712E47C}" type="slidenum">
              <a:rPr lang="es-MX" smtClean="0"/>
              <a:t>‹#›</a:t>
            </a:fld>
            <a:endParaRPr lang="es-MX"/>
          </a:p>
        </p:txBody>
      </p:sp>
    </p:spTree>
    <p:extLst>
      <p:ext uri="{BB962C8B-B14F-4D97-AF65-F5344CB8AC3E}">
        <p14:creationId xmlns:p14="http://schemas.microsoft.com/office/powerpoint/2010/main" val="465473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59842E-1351-D54F-A485-930AA5DBE936}" type="datetime1">
              <a:rPr lang="es-MX" smtClean="0"/>
              <a:t>22/06/2019</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7EDAA5DF-D255-414A-BAD6-30287712E47C}" type="slidenum">
              <a:rPr lang="es-MX" smtClean="0"/>
              <a:t>‹#›</a:t>
            </a:fld>
            <a:endParaRPr lang="es-MX"/>
          </a:p>
        </p:txBody>
      </p:sp>
    </p:spTree>
    <p:extLst>
      <p:ext uri="{BB962C8B-B14F-4D97-AF65-F5344CB8AC3E}">
        <p14:creationId xmlns:p14="http://schemas.microsoft.com/office/powerpoint/2010/main" val="18385807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s-ES"/>
              <a:t>Editar los estilos de texto del patrón
Segundo nivel
Tercer nivel
Cuarto nivel
Quinto nivel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9" name="Date Placeholder 8"/>
          <p:cNvSpPr>
            <a:spLocks noGrp="1"/>
          </p:cNvSpPr>
          <p:nvPr>
            <p:ph type="dt" sz="half" idx="10"/>
          </p:nvPr>
        </p:nvSpPr>
        <p:spPr/>
        <p:txBody>
          <a:bodyPr/>
          <a:lstStyle/>
          <a:p>
            <a:fld id="{A0203829-282C-CE40-811B-E46701812D40}" type="datetime1">
              <a:rPr lang="es-MX" smtClean="0"/>
              <a:t>22/06/2019</a:t>
            </a:fld>
            <a:endParaRPr lang="es-MX"/>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s-MX"/>
          </a:p>
        </p:txBody>
      </p:sp>
      <p:sp>
        <p:nvSpPr>
          <p:cNvPr id="11" name="Slide Number Placeholder 10"/>
          <p:cNvSpPr>
            <a:spLocks noGrp="1"/>
          </p:cNvSpPr>
          <p:nvPr>
            <p:ph type="sldNum" sz="quarter" idx="12"/>
          </p:nvPr>
        </p:nvSpPr>
        <p:spPr/>
        <p:txBody>
          <a:bodyPr/>
          <a:lstStyle/>
          <a:p>
            <a:fld id="{7EDAA5DF-D255-414A-BAD6-30287712E47C}" type="slidenum">
              <a:rPr lang="es-MX" smtClean="0"/>
              <a:t>‹#›</a:t>
            </a:fld>
            <a:endParaRPr lang="es-MX"/>
          </a:p>
        </p:txBody>
      </p:sp>
    </p:spTree>
    <p:extLst>
      <p:ext uri="{BB962C8B-B14F-4D97-AF65-F5344CB8AC3E}">
        <p14:creationId xmlns:p14="http://schemas.microsoft.com/office/powerpoint/2010/main" val="3211938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350E7D2F-DE9A-E346-AD5D-67627DFBC430}" type="datetime1">
              <a:rPr lang="es-MX" smtClean="0"/>
              <a:t>22/06/2019</a:t>
            </a:fld>
            <a:endParaRPr lang="es-MX"/>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s-MX"/>
          </a:p>
        </p:txBody>
      </p:sp>
      <p:sp>
        <p:nvSpPr>
          <p:cNvPr id="10" name="Slide Number Placeholder 9"/>
          <p:cNvSpPr>
            <a:spLocks noGrp="1"/>
          </p:cNvSpPr>
          <p:nvPr>
            <p:ph type="sldNum" sz="quarter" idx="12"/>
          </p:nvPr>
        </p:nvSpPr>
        <p:spPr/>
        <p:txBody>
          <a:bodyPr/>
          <a:lstStyle/>
          <a:p>
            <a:fld id="{7EDAA5DF-D255-414A-BAD6-30287712E47C}" type="slidenum">
              <a:rPr lang="es-MX" smtClean="0"/>
              <a:t>‹#›</a:t>
            </a:fld>
            <a:endParaRPr lang="es-MX"/>
          </a:p>
        </p:txBody>
      </p:sp>
    </p:spTree>
    <p:extLst>
      <p:ext uri="{BB962C8B-B14F-4D97-AF65-F5344CB8AC3E}">
        <p14:creationId xmlns:p14="http://schemas.microsoft.com/office/powerpoint/2010/main" val="2317961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6D573CA2-994E-D040-A458-505C425E84E7}" type="datetime1">
              <a:rPr lang="es-MX" smtClean="0"/>
              <a:t>22/06/2019</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7EDAA5DF-D255-414A-BAD6-30287712E47C}" type="slidenum">
              <a:rPr lang="es-MX" smtClean="0"/>
              <a:t>‹#›</a:t>
            </a:fld>
            <a:endParaRPr lang="es-MX"/>
          </a:p>
        </p:txBody>
      </p:sp>
    </p:spTree>
    <p:extLst>
      <p:ext uri="{BB962C8B-B14F-4D97-AF65-F5344CB8AC3E}">
        <p14:creationId xmlns:p14="http://schemas.microsoft.com/office/powerpoint/2010/main" val="1835332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BCE9CA58-EF22-B247-8BDD-62B23F48DFE2}" type="datetime1">
              <a:rPr lang="es-MX" smtClean="0"/>
              <a:t>22/06/2019</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7EDAA5DF-D255-414A-BAD6-30287712E47C}" type="slidenum">
              <a:rPr lang="es-MX" smtClean="0"/>
              <a:t>‹#›</a:t>
            </a:fld>
            <a:endParaRPr lang="es-MX"/>
          </a:p>
        </p:txBody>
      </p:sp>
    </p:spTree>
    <p:extLst>
      <p:ext uri="{BB962C8B-B14F-4D97-AF65-F5344CB8AC3E}">
        <p14:creationId xmlns:p14="http://schemas.microsoft.com/office/powerpoint/2010/main" val="1142222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9CFB76DA-C527-8547-8E46-5E8D18A083D9}" type="datetime1">
              <a:rPr lang="es-MX" smtClean="0"/>
              <a:t>22/06/2019</a:t>
            </a:fld>
            <a:endParaRPr lang="es-MX"/>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s-MX"/>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7EDAA5DF-D255-414A-BAD6-30287712E47C}" type="slidenum">
              <a:rPr lang="es-MX" smtClean="0"/>
              <a:t>‹#›</a:t>
            </a:fld>
            <a:endParaRPr lang="es-MX"/>
          </a:p>
        </p:txBody>
      </p:sp>
    </p:spTree>
    <p:extLst>
      <p:ext uri="{BB962C8B-B14F-4D97-AF65-F5344CB8AC3E}">
        <p14:creationId xmlns:p14="http://schemas.microsoft.com/office/powerpoint/2010/main" val="1385969097"/>
      </p:ext>
    </p:extLst>
  </p:cSld>
  <p:clrMap bg1="lt1" tx1="dk1" bg2="lt2" tx2="dk2" accent1="accent1" accent2="accent2" accent3="accent3" accent4="accent4" accent5="accent5" accent6="accent6" hlink="hlink" folHlink="folHlink"/>
  <p:sldLayoutIdLst>
    <p:sldLayoutId id="2147484018" r:id="rId1"/>
    <p:sldLayoutId id="2147484019" r:id="rId2"/>
    <p:sldLayoutId id="2147484020" r:id="rId3"/>
    <p:sldLayoutId id="2147484021" r:id="rId4"/>
    <p:sldLayoutId id="2147484022" r:id="rId5"/>
    <p:sldLayoutId id="2147484023" r:id="rId6"/>
    <p:sldLayoutId id="2147484024" r:id="rId7"/>
    <p:sldLayoutId id="2147484025" r:id="rId8"/>
    <p:sldLayoutId id="2147484026" r:id="rId9"/>
    <p:sldLayoutId id="2147484027" r:id="rId10"/>
    <p:sldLayoutId id="2147484028" r:id="rId11"/>
  </p:sldLayoutIdLst>
  <p:hf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7D3A4E0-C908-4EA9-ABDF-E82AD6BDE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1D0E07E-B6DE-3E41-B53C-68489BE8F1E1}"/>
              </a:ext>
            </a:extLst>
          </p:cNvPr>
          <p:cNvSpPr>
            <a:spLocks noGrp="1"/>
          </p:cNvSpPr>
          <p:nvPr>
            <p:ph type="ctrTitle"/>
          </p:nvPr>
        </p:nvSpPr>
        <p:spPr>
          <a:xfrm>
            <a:off x="1600200" y="2363323"/>
            <a:ext cx="8991600" cy="1692771"/>
          </a:xfrm>
        </p:spPr>
        <p:txBody>
          <a:bodyPr>
            <a:normAutofit/>
          </a:bodyPr>
          <a:lstStyle/>
          <a:p>
            <a:r>
              <a:rPr lang="en-GB" b="1" dirty="0"/>
              <a:t>weekly </a:t>
            </a:r>
            <a:r>
              <a:rPr lang="en-GB" b="1"/>
              <a:t>stock prediction</a:t>
            </a:r>
            <a:endParaRPr lang="es-MX" b="1" dirty="0"/>
          </a:p>
        </p:txBody>
      </p:sp>
      <p:sp>
        <p:nvSpPr>
          <p:cNvPr id="32" name="Subtítulo 2">
            <a:extLst>
              <a:ext uri="{FF2B5EF4-FFF2-40B4-BE49-F238E27FC236}">
                <a16:creationId xmlns:a16="http://schemas.microsoft.com/office/drawing/2014/main" id="{EE7339A8-9775-3D40-BABE-412EBFC44129}"/>
              </a:ext>
            </a:extLst>
          </p:cNvPr>
          <p:cNvSpPr txBox="1">
            <a:spLocks/>
          </p:cNvSpPr>
          <p:nvPr/>
        </p:nvSpPr>
        <p:spPr>
          <a:xfrm>
            <a:off x="5560175" y="5998739"/>
            <a:ext cx="5031625" cy="438583"/>
          </a:xfrm>
          <a:prstGeom prst="rect">
            <a:avLst/>
          </a:prstGeom>
          <a:noFill/>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75000"/>
                    <a:lumOff val="25000"/>
                  </a:schemeClr>
                </a:solidFill>
                <a:latin typeface="+mn-lt"/>
                <a:ea typeface="+mn-ea"/>
                <a:cs typeface="+mn-cs"/>
              </a:defRPr>
            </a:lvl1pPr>
            <a:lvl2pPr marL="45720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85000"/>
                    <a:lumOff val="15000"/>
                  </a:schemeClr>
                </a:solidFill>
                <a:latin typeface="+mn-lt"/>
                <a:ea typeface="+mn-ea"/>
                <a:cs typeface="+mn-cs"/>
              </a:defRPr>
            </a:lvl2pPr>
            <a:lvl3pPr marL="914400" indent="0" algn="ctr" defTabSz="914400" rtl="0" eaLnBrk="1" latinLnBrk="0" hangingPunct="1">
              <a:lnSpc>
                <a:spcPct val="100000"/>
              </a:lnSpc>
              <a:spcBef>
                <a:spcPts val="1000"/>
              </a:spcBef>
              <a:buClr>
                <a:schemeClr val="accent2"/>
              </a:buClr>
              <a:buFont typeface="Arial" panose="020B0604020202020204" pitchFamily="34" charset="0"/>
              <a:buNone/>
              <a:defRPr sz="1800" kern="1200">
                <a:solidFill>
                  <a:schemeClr val="tx1">
                    <a:lumMod val="85000"/>
                    <a:lumOff val="15000"/>
                  </a:schemeClr>
                </a:solidFill>
                <a:latin typeface="+mn-lt"/>
                <a:ea typeface="+mn-ea"/>
                <a:cs typeface="+mn-cs"/>
              </a:defRPr>
            </a:lvl3pPr>
            <a:lvl4pPr marL="13716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4pPr>
            <a:lvl5pPr marL="18288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5pPr>
            <a:lvl6pPr marL="22860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8pPr>
            <a:lvl9pPr marL="36576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9pPr>
          </a:lstStyle>
          <a:p>
            <a:pPr algn="r"/>
            <a:r>
              <a:rPr lang="es-MX" dirty="0">
                <a:solidFill>
                  <a:schemeClr val="bg1"/>
                </a:solidFill>
              </a:rPr>
              <a:t>March 2019</a:t>
            </a:r>
          </a:p>
        </p:txBody>
      </p:sp>
      <p:sp>
        <p:nvSpPr>
          <p:cNvPr id="4" name="Marcador de número de diapositiva 3">
            <a:extLst>
              <a:ext uri="{FF2B5EF4-FFF2-40B4-BE49-F238E27FC236}">
                <a16:creationId xmlns:a16="http://schemas.microsoft.com/office/drawing/2014/main" id="{1C7270EE-FAB8-6C47-94FC-8AEE18207980}"/>
              </a:ext>
            </a:extLst>
          </p:cNvPr>
          <p:cNvSpPr>
            <a:spLocks noGrp="1"/>
          </p:cNvSpPr>
          <p:nvPr>
            <p:ph type="sldNum" sz="quarter" idx="12"/>
          </p:nvPr>
        </p:nvSpPr>
        <p:spPr/>
        <p:txBody>
          <a:bodyPr/>
          <a:lstStyle/>
          <a:p>
            <a:fld id="{7EDAA5DF-D255-414A-BAD6-30287712E47C}" type="slidenum">
              <a:rPr lang="es-MX" smtClean="0"/>
              <a:t>1</a:t>
            </a:fld>
            <a:endParaRPr lang="es-MX"/>
          </a:p>
        </p:txBody>
      </p:sp>
    </p:spTree>
    <p:extLst>
      <p:ext uri="{BB962C8B-B14F-4D97-AF65-F5344CB8AC3E}">
        <p14:creationId xmlns:p14="http://schemas.microsoft.com/office/powerpoint/2010/main" val="1914927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8888FE8-7532-494F-BEF6-E194E925DFE2}"/>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s-MX" sz="3000" dirty="0">
                <a:solidFill>
                  <a:srgbClr val="FFFFFF"/>
                </a:solidFill>
              </a:rPr>
              <a:t>Content</a:t>
            </a:r>
          </a:p>
        </p:txBody>
      </p:sp>
      <p:sp>
        <p:nvSpPr>
          <p:cNvPr id="3" name="Marcador de contenido 2">
            <a:extLst>
              <a:ext uri="{FF2B5EF4-FFF2-40B4-BE49-F238E27FC236}">
                <a16:creationId xmlns:a16="http://schemas.microsoft.com/office/drawing/2014/main" id="{7D84439C-6238-7245-9E47-B11866B59DAA}"/>
              </a:ext>
            </a:extLst>
          </p:cNvPr>
          <p:cNvSpPr>
            <a:spLocks noGrp="1"/>
          </p:cNvSpPr>
          <p:nvPr>
            <p:ph idx="1"/>
          </p:nvPr>
        </p:nvSpPr>
        <p:spPr>
          <a:xfrm>
            <a:off x="5232805" y="1064623"/>
            <a:ext cx="5320696" cy="5020491"/>
          </a:xfrm>
        </p:spPr>
        <p:txBody>
          <a:bodyPr anchor="ctr">
            <a:normAutofit/>
          </a:bodyPr>
          <a:lstStyle/>
          <a:p>
            <a:pPr marL="342900" indent="-342900">
              <a:buFont typeface="+mj-lt"/>
              <a:buAutoNum type="arabicPeriod"/>
            </a:pPr>
            <a:r>
              <a:rPr lang="es-MX" sz="2400" dirty="0"/>
              <a:t>Introduction</a:t>
            </a:r>
          </a:p>
          <a:p>
            <a:pPr marL="342900" indent="-342900">
              <a:buFont typeface="+mj-lt"/>
              <a:buAutoNum type="arabicPeriod"/>
            </a:pPr>
            <a:r>
              <a:rPr lang="es-MX" sz="2400" dirty="0"/>
              <a:t>Exploratory Analysis</a:t>
            </a:r>
          </a:p>
          <a:p>
            <a:pPr marL="342900" indent="-342900">
              <a:buFont typeface="+mj-lt"/>
              <a:buAutoNum type="arabicPeriod"/>
            </a:pPr>
            <a:r>
              <a:rPr lang="es-MX" sz="2400" dirty="0"/>
              <a:t>Analyses</a:t>
            </a:r>
          </a:p>
          <a:p>
            <a:pPr lvl="1"/>
            <a:r>
              <a:rPr lang="es-MX" sz="2400" dirty="0"/>
              <a:t>Logistic regression</a:t>
            </a:r>
          </a:p>
          <a:p>
            <a:pPr lvl="1"/>
            <a:r>
              <a:rPr lang="es-MX" sz="2400" dirty="0"/>
              <a:t>Linear </a:t>
            </a:r>
            <a:r>
              <a:rPr lang="es-MX" sz="2400" dirty="0" err="1"/>
              <a:t>Discriminant</a:t>
            </a:r>
            <a:r>
              <a:rPr lang="es-MX" sz="2400" dirty="0"/>
              <a:t> </a:t>
            </a:r>
            <a:r>
              <a:rPr lang="es-MX" sz="2400" dirty="0" err="1"/>
              <a:t>Analysis</a:t>
            </a:r>
            <a:endParaRPr lang="es-MX" sz="2400" dirty="0"/>
          </a:p>
          <a:p>
            <a:pPr lvl="1"/>
            <a:r>
              <a:rPr lang="es-MX" sz="2400" dirty="0"/>
              <a:t>K–Nearest Neighbour</a:t>
            </a:r>
          </a:p>
          <a:p>
            <a:pPr marL="342900" indent="-342900">
              <a:buFont typeface="+mj-lt"/>
              <a:buAutoNum type="arabicPeriod"/>
            </a:pPr>
            <a:r>
              <a:rPr lang="es-MX" sz="2400" dirty="0" err="1"/>
              <a:t>Combined</a:t>
            </a:r>
            <a:r>
              <a:rPr lang="es-MX" sz="2400" dirty="0"/>
              <a:t> predictors</a:t>
            </a:r>
          </a:p>
          <a:p>
            <a:pPr marL="342900" indent="-342900">
              <a:buFont typeface="+mj-lt"/>
              <a:buAutoNum type="arabicPeriod"/>
            </a:pPr>
            <a:r>
              <a:rPr lang="es-MX" sz="2400" dirty="0" err="1"/>
              <a:t>Conclusion</a:t>
            </a:r>
            <a:endParaRPr lang="es-MX" sz="2400" dirty="0"/>
          </a:p>
          <a:p>
            <a:pPr marL="0" indent="0">
              <a:buNone/>
            </a:pPr>
            <a:endParaRPr lang="es-MX" sz="800" dirty="0"/>
          </a:p>
        </p:txBody>
      </p:sp>
      <p:sp>
        <p:nvSpPr>
          <p:cNvPr id="4" name="Marcador de número de diapositiva 3">
            <a:extLst>
              <a:ext uri="{FF2B5EF4-FFF2-40B4-BE49-F238E27FC236}">
                <a16:creationId xmlns:a16="http://schemas.microsoft.com/office/drawing/2014/main" id="{B2E7BA2B-54B8-6C4C-B3E6-EA9DFFDB207F}"/>
              </a:ext>
            </a:extLst>
          </p:cNvPr>
          <p:cNvSpPr>
            <a:spLocks noGrp="1"/>
          </p:cNvSpPr>
          <p:nvPr>
            <p:ph type="sldNum" sz="quarter" idx="12"/>
          </p:nvPr>
        </p:nvSpPr>
        <p:spPr/>
        <p:txBody>
          <a:bodyPr/>
          <a:lstStyle/>
          <a:p>
            <a:fld id="{7EDAA5DF-D255-414A-BAD6-30287712E47C}" type="slidenum">
              <a:rPr lang="es-MX" smtClean="0"/>
              <a:t>2</a:t>
            </a:fld>
            <a:endParaRPr lang="es-MX"/>
          </a:p>
        </p:txBody>
      </p:sp>
    </p:spTree>
    <p:extLst>
      <p:ext uri="{BB962C8B-B14F-4D97-AF65-F5344CB8AC3E}">
        <p14:creationId xmlns:p14="http://schemas.microsoft.com/office/powerpoint/2010/main" val="3585030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EC7FF834-B204-4967-8D47-8BB36EAF0E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F780A22D-61EA-43E3-BD94-3E39CF902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18509"/>
            <a:ext cx="12192000" cy="193949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9ADC365-5DDE-C24B-82D8-6EC1686866B8}"/>
              </a:ext>
            </a:extLst>
          </p:cNvPr>
          <p:cNvSpPr>
            <a:spLocks noGrp="1"/>
          </p:cNvSpPr>
          <p:nvPr>
            <p:ph type="title"/>
          </p:nvPr>
        </p:nvSpPr>
        <p:spPr>
          <a:xfrm>
            <a:off x="1753345" y="5330012"/>
            <a:ext cx="8991600" cy="1264762"/>
          </a:xfrm>
        </p:spPr>
        <p:txBody>
          <a:bodyPr vert="horz" lIns="274320" tIns="182880" rIns="274320" bIns="182880" rtlCol="0" anchor="ctr" anchorCtr="1">
            <a:normAutofit/>
          </a:bodyPr>
          <a:lstStyle/>
          <a:p>
            <a:r>
              <a:rPr lang="en-US" sz="3200" dirty="0"/>
              <a:t>Introduction</a:t>
            </a:r>
          </a:p>
        </p:txBody>
      </p:sp>
      <p:sp>
        <p:nvSpPr>
          <p:cNvPr id="4" name="Rectángulo 3">
            <a:extLst>
              <a:ext uri="{FF2B5EF4-FFF2-40B4-BE49-F238E27FC236}">
                <a16:creationId xmlns:a16="http://schemas.microsoft.com/office/drawing/2014/main" id="{4600C718-35E5-8E4E-B6B0-EEB406D0D1D6}"/>
              </a:ext>
            </a:extLst>
          </p:cNvPr>
          <p:cNvSpPr/>
          <p:nvPr/>
        </p:nvSpPr>
        <p:spPr>
          <a:xfrm>
            <a:off x="642584" y="247111"/>
            <a:ext cx="11213123" cy="3990836"/>
          </a:xfrm>
          <a:prstGeom prst="rect">
            <a:avLst/>
          </a:prstGeom>
        </p:spPr>
        <p:txBody>
          <a:bodyPr wrap="square">
            <a:spAutoFit/>
          </a:bodyPr>
          <a:lstStyle/>
          <a:p>
            <a:pPr marL="342900" indent="-342900" algn="just" defTabSz="914400" fontAlgn="base">
              <a:spcBef>
                <a:spcPts val="1000"/>
              </a:spcBef>
              <a:buClr>
                <a:schemeClr val="accent2"/>
              </a:buClr>
              <a:buFont typeface="Arial" panose="020B0604020202020204" pitchFamily="34" charset="0"/>
              <a:buChar char="•"/>
            </a:pPr>
            <a:r>
              <a:rPr lang="en-GB" sz="2000" dirty="0"/>
              <a:t>It is </a:t>
            </a:r>
            <a:r>
              <a:rPr lang="en" sz="2000" dirty="0"/>
              <a:t>very difficult to determine when the stock value hits a top or a bottom.</a:t>
            </a:r>
          </a:p>
          <a:p>
            <a:pPr marL="342900" indent="-342900" algn="just" defTabSz="914400" fontAlgn="base">
              <a:spcBef>
                <a:spcPts val="1000"/>
              </a:spcBef>
              <a:buClr>
                <a:schemeClr val="accent2"/>
              </a:buClr>
              <a:buFont typeface="Arial" panose="020B0604020202020204" pitchFamily="34" charset="0"/>
              <a:buChar char="•"/>
            </a:pPr>
            <a:r>
              <a:rPr lang="en" sz="2000" dirty="0"/>
              <a:t>The Stock Market patterns are non-linear in nature; hence it is difficult to forecast future trends of the market behavior. </a:t>
            </a:r>
          </a:p>
          <a:p>
            <a:pPr marL="342900" indent="-342900" algn="just" defTabSz="914400" fontAlgn="base">
              <a:spcBef>
                <a:spcPts val="1000"/>
              </a:spcBef>
              <a:buClr>
                <a:schemeClr val="accent2"/>
              </a:buClr>
              <a:buFont typeface="Arial" panose="020B0604020202020204" pitchFamily="34" charset="0"/>
              <a:buChar char="•"/>
            </a:pPr>
            <a:r>
              <a:rPr lang="en" sz="2000" dirty="0"/>
              <a:t>With the advent of the digital computer, the stock market prediction has since moved into the machine learning field. The most prominent technique involves the use of artificial neural networks (ANNs), Genetic Algorithms (GA), and Hidden Markov Models (HMM).</a:t>
            </a:r>
          </a:p>
          <a:p>
            <a:pPr marL="342900" indent="-342900" algn="just" defTabSz="914400" fontAlgn="base">
              <a:spcBef>
                <a:spcPts val="1000"/>
              </a:spcBef>
              <a:buClr>
                <a:schemeClr val="accent2"/>
              </a:buClr>
              <a:buFont typeface="Arial" panose="020B0604020202020204" pitchFamily="34" charset="0"/>
              <a:buChar char="•"/>
            </a:pPr>
            <a:r>
              <a:rPr lang="en" sz="2000" dirty="0"/>
              <a:t>This work presents an analysis and development of three machine learning techniques to predict the binary direction (up or down) for a given market asset: Logistic regression model using 4 predictor variables, a linear discriminant and a K Nearest Neighbors analysis.</a:t>
            </a:r>
          </a:p>
          <a:p>
            <a:pPr marL="342900" indent="-342900" algn="just" defTabSz="914400" fontAlgn="base">
              <a:spcBef>
                <a:spcPts val="1000"/>
              </a:spcBef>
              <a:buClr>
                <a:schemeClr val="accent2"/>
              </a:buClr>
              <a:buFont typeface="Arial" panose="020B0604020202020204" pitchFamily="34" charset="0"/>
              <a:buChar char="•"/>
            </a:pPr>
            <a:r>
              <a:rPr lang="en" sz="2000" dirty="0"/>
              <a:t>To further improve the model, the initial data can be normalized and the variables can be </a:t>
            </a:r>
            <a:r>
              <a:rPr lang="en-GB" sz="2000" dirty="0"/>
              <a:t>combi</a:t>
            </a:r>
            <a:r>
              <a:rPr lang="en" sz="2000" dirty="0"/>
              <a:t>ned to find hidden relations.</a:t>
            </a:r>
          </a:p>
        </p:txBody>
      </p:sp>
      <p:sp>
        <p:nvSpPr>
          <p:cNvPr id="5" name="Marcador de número de diapositiva 4">
            <a:extLst>
              <a:ext uri="{FF2B5EF4-FFF2-40B4-BE49-F238E27FC236}">
                <a16:creationId xmlns:a16="http://schemas.microsoft.com/office/drawing/2014/main" id="{B3C68D30-CDDD-5146-9F2A-63A6AC76B2D1}"/>
              </a:ext>
            </a:extLst>
          </p:cNvPr>
          <p:cNvSpPr>
            <a:spLocks noGrp="1"/>
          </p:cNvSpPr>
          <p:nvPr>
            <p:ph type="sldNum" sz="quarter" idx="12"/>
          </p:nvPr>
        </p:nvSpPr>
        <p:spPr/>
        <p:txBody>
          <a:bodyPr/>
          <a:lstStyle/>
          <a:p>
            <a:fld id="{7EDAA5DF-D255-414A-BAD6-30287712E47C}" type="slidenum">
              <a:rPr lang="es-MX" smtClean="0"/>
              <a:t>3</a:t>
            </a:fld>
            <a:endParaRPr lang="es-MX"/>
          </a:p>
        </p:txBody>
      </p:sp>
    </p:spTree>
    <p:extLst>
      <p:ext uri="{BB962C8B-B14F-4D97-AF65-F5344CB8AC3E}">
        <p14:creationId xmlns:p14="http://schemas.microsoft.com/office/powerpoint/2010/main" val="3471261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ADC365-5DDE-C24B-82D8-6EC1686866B8}"/>
              </a:ext>
            </a:extLst>
          </p:cNvPr>
          <p:cNvSpPr>
            <a:spLocks noGrp="1"/>
          </p:cNvSpPr>
          <p:nvPr>
            <p:ph type="title"/>
          </p:nvPr>
        </p:nvSpPr>
        <p:spPr>
          <a:xfrm>
            <a:off x="2231134" y="333375"/>
            <a:ext cx="7729728" cy="1188720"/>
          </a:xfrm>
        </p:spPr>
        <p:txBody>
          <a:bodyPr/>
          <a:lstStyle/>
          <a:p>
            <a:r>
              <a:rPr lang="es-MX" dirty="0"/>
              <a:t>Exploratory analysis</a:t>
            </a:r>
          </a:p>
        </p:txBody>
      </p:sp>
      <p:pic>
        <p:nvPicPr>
          <p:cNvPr id="4" name="Imagen 3">
            <a:extLst>
              <a:ext uri="{FF2B5EF4-FFF2-40B4-BE49-F238E27FC236}">
                <a16:creationId xmlns:a16="http://schemas.microsoft.com/office/drawing/2014/main" id="{497C9EC5-AD67-6B49-82BA-27582DC9608D}"/>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231136" y="3617686"/>
            <a:ext cx="7645400" cy="2387600"/>
          </a:xfrm>
          <a:prstGeom prst="rect">
            <a:avLst/>
          </a:prstGeom>
        </p:spPr>
      </p:pic>
      <p:sp>
        <p:nvSpPr>
          <p:cNvPr id="5" name="Rectángulo 4">
            <a:extLst>
              <a:ext uri="{FF2B5EF4-FFF2-40B4-BE49-F238E27FC236}">
                <a16:creationId xmlns:a16="http://schemas.microsoft.com/office/drawing/2014/main" id="{185F850B-8A36-074C-9C2D-2BC74DF16DA6}"/>
              </a:ext>
            </a:extLst>
          </p:cNvPr>
          <p:cNvSpPr/>
          <p:nvPr/>
        </p:nvSpPr>
        <p:spPr>
          <a:xfrm>
            <a:off x="2231135" y="2123777"/>
            <a:ext cx="7729727" cy="646331"/>
          </a:xfrm>
          <a:prstGeom prst="rect">
            <a:avLst/>
          </a:prstGeom>
        </p:spPr>
        <p:txBody>
          <a:bodyPr wrap="square">
            <a:spAutoFit/>
          </a:bodyPr>
          <a:lstStyle/>
          <a:p>
            <a:pPr marL="342900" indent="-342900" algn="just" defTabSz="914400" fontAlgn="base">
              <a:spcBef>
                <a:spcPts val="1000"/>
              </a:spcBef>
              <a:buClr>
                <a:schemeClr val="accent2"/>
              </a:buClr>
              <a:buFont typeface="Arial" panose="020B0604020202020204" pitchFamily="34" charset="0"/>
              <a:buChar char="•"/>
            </a:pPr>
            <a:r>
              <a:rPr lang="en" dirty="0"/>
              <a:t>The data consists of </a:t>
            </a:r>
            <a:r>
              <a:rPr lang="en" b="1" dirty="0"/>
              <a:t>8 </a:t>
            </a:r>
            <a:r>
              <a:rPr lang="en" dirty="0"/>
              <a:t>variables and 985 weekly returns for 18 years, from the beginning of 1990 to the end of 2008.</a:t>
            </a:r>
            <a:endParaRPr lang="en" dirty="0">
              <a:solidFill>
                <a:schemeClr val="tx1">
                  <a:lumMod val="85000"/>
                  <a:lumOff val="15000"/>
                </a:schemeClr>
              </a:solidFill>
            </a:endParaRPr>
          </a:p>
        </p:txBody>
      </p:sp>
      <p:sp>
        <p:nvSpPr>
          <p:cNvPr id="6" name="Rectángulo 5">
            <a:extLst>
              <a:ext uri="{FF2B5EF4-FFF2-40B4-BE49-F238E27FC236}">
                <a16:creationId xmlns:a16="http://schemas.microsoft.com/office/drawing/2014/main" id="{6D69FC16-F725-9442-98EC-42E84F8DFA37}"/>
              </a:ext>
            </a:extLst>
          </p:cNvPr>
          <p:cNvSpPr/>
          <p:nvPr/>
        </p:nvSpPr>
        <p:spPr>
          <a:xfrm>
            <a:off x="8860972" y="4143828"/>
            <a:ext cx="936171" cy="896257"/>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Marcador de número de diapositiva 6">
            <a:extLst>
              <a:ext uri="{FF2B5EF4-FFF2-40B4-BE49-F238E27FC236}">
                <a16:creationId xmlns:a16="http://schemas.microsoft.com/office/drawing/2014/main" id="{AF7E2F34-2FCD-284D-9831-08737510318F}"/>
              </a:ext>
            </a:extLst>
          </p:cNvPr>
          <p:cNvSpPr>
            <a:spLocks noGrp="1"/>
          </p:cNvSpPr>
          <p:nvPr>
            <p:ph type="sldNum" sz="quarter" idx="12"/>
          </p:nvPr>
        </p:nvSpPr>
        <p:spPr/>
        <p:txBody>
          <a:bodyPr/>
          <a:lstStyle/>
          <a:p>
            <a:fld id="{7EDAA5DF-D255-414A-BAD6-30287712E47C}" type="slidenum">
              <a:rPr lang="es-MX" smtClean="0"/>
              <a:t>4</a:t>
            </a:fld>
            <a:endParaRPr lang="es-MX"/>
          </a:p>
        </p:txBody>
      </p:sp>
    </p:spTree>
    <p:extLst>
      <p:ext uri="{BB962C8B-B14F-4D97-AF65-F5344CB8AC3E}">
        <p14:creationId xmlns:p14="http://schemas.microsoft.com/office/powerpoint/2010/main" val="2058951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ADC365-5DDE-C24B-82D8-6EC1686866B8}"/>
              </a:ext>
            </a:extLst>
          </p:cNvPr>
          <p:cNvSpPr>
            <a:spLocks noGrp="1"/>
          </p:cNvSpPr>
          <p:nvPr>
            <p:ph type="title"/>
          </p:nvPr>
        </p:nvSpPr>
        <p:spPr>
          <a:xfrm>
            <a:off x="2231136" y="333375"/>
            <a:ext cx="7729728" cy="1188720"/>
          </a:xfrm>
        </p:spPr>
        <p:txBody>
          <a:bodyPr/>
          <a:lstStyle/>
          <a:p>
            <a:r>
              <a:rPr lang="es-MX" dirty="0"/>
              <a:t>Exploratory analysis</a:t>
            </a:r>
          </a:p>
        </p:txBody>
      </p:sp>
      <p:pic>
        <p:nvPicPr>
          <p:cNvPr id="1026" name="Picture 2" descr="https://lh3.googleusercontent.com/CXkn2NYX2MrP-JHmKsBawWWlqpePztTmdopYqgMLSY8vJccd9mXvdQnWSteShrUsVLDNcxBMFWK5pAXCwICdKdw9slEo56OMWUW4qefh4r6g1eHqCQpgYymhy1_qolAmhmspHiPI">
            <a:extLst>
              <a:ext uri="{FF2B5EF4-FFF2-40B4-BE49-F238E27FC236}">
                <a16:creationId xmlns:a16="http://schemas.microsoft.com/office/drawing/2014/main" id="{C5127BBA-C0F1-7B47-8DE5-C9C71B87DF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454" y="1751299"/>
            <a:ext cx="5162666" cy="483660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9C513E68-CA60-AC48-8C92-31C68B0D9A43}"/>
              </a:ext>
            </a:extLst>
          </p:cNvPr>
          <p:cNvSpPr/>
          <p:nvPr/>
        </p:nvSpPr>
        <p:spPr>
          <a:xfrm>
            <a:off x="3936076" y="2140812"/>
            <a:ext cx="707571" cy="595834"/>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Rectángulo 7">
            <a:extLst>
              <a:ext uri="{FF2B5EF4-FFF2-40B4-BE49-F238E27FC236}">
                <a16:creationId xmlns:a16="http://schemas.microsoft.com/office/drawing/2014/main" id="{BF20796E-A00D-8041-BA92-B9A5B01C0C1F}"/>
              </a:ext>
            </a:extLst>
          </p:cNvPr>
          <p:cNvSpPr/>
          <p:nvPr/>
        </p:nvSpPr>
        <p:spPr>
          <a:xfrm>
            <a:off x="5957432" y="3001399"/>
            <a:ext cx="6047884" cy="1733808"/>
          </a:xfrm>
          <a:prstGeom prst="rect">
            <a:avLst/>
          </a:prstGeom>
        </p:spPr>
        <p:txBody>
          <a:bodyPr wrap="square">
            <a:spAutoFit/>
          </a:bodyPr>
          <a:lstStyle/>
          <a:p>
            <a:pPr marL="342900" indent="-342900" algn="just" defTabSz="914400" fontAlgn="base">
              <a:spcBef>
                <a:spcPts val="1000"/>
              </a:spcBef>
              <a:buClr>
                <a:schemeClr val="accent2"/>
              </a:buClr>
              <a:buFont typeface="Arial" panose="020B0604020202020204" pitchFamily="34" charset="0"/>
              <a:buChar char="•"/>
            </a:pPr>
            <a:r>
              <a:rPr lang="en" dirty="0"/>
              <a:t>Correlation between ‘</a:t>
            </a:r>
            <a:r>
              <a:rPr lang="en" i="1" dirty="0"/>
              <a:t>Year</a:t>
            </a:r>
            <a:r>
              <a:rPr lang="en" dirty="0"/>
              <a:t>’ and ‘</a:t>
            </a:r>
            <a:r>
              <a:rPr lang="en" i="1" dirty="0"/>
              <a:t>Volume’</a:t>
            </a:r>
            <a:r>
              <a:rPr lang="en" dirty="0"/>
              <a:t> is very high (0.821), indicating that volume increases over time. </a:t>
            </a:r>
          </a:p>
          <a:p>
            <a:pPr marL="342900" indent="-342900" algn="just" defTabSz="914400" fontAlgn="base">
              <a:spcBef>
                <a:spcPts val="1000"/>
              </a:spcBef>
              <a:buClr>
                <a:schemeClr val="accent2"/>
              </a:buClr>
              <a:buFont typeface="Arial" panose="020B0604020202020204" pitchFamily="34" charset="0"/>
              <a:buChar char="•"/>
            </a:pPr>
            <a:endParaRPr lang="en" dirty="0"/>
          </a:p>
          <a:p>
            <a:pPr marL="342900" indent="-342900" algn="just" defTabSz="914400" fontAlgn="base">
              <a:spcBef>
                <a:spcPts val="1000"/>
              </a:spcBef>
              <a:buClr>
                <a:schemeClr val="accent2"/>
              </a:buClr>
              <a:buFont typeface="Arial" panose="020B0604020202020204" pitchFamily="34" charset="0"/>
              <a:buChar char="•"/>
            </a:pPr>
            <a:r>
              <a:rPr lang="en" dirty="0"/>
              <a:t>To avoid possible collinearity problems, the variable ‘</a:t>
            </a:r>
            <a:r>
              <a:rPr lang="en" i="1" dirty="0"/>
              <a:t>Year</a:t>
            </a:r>
            <a:r>
              <a:rPr lang="en" dirty="0"/>
              <a:t>’ will not be used as a feature in the classifiers.</a:t>
            </a:r>
            <a:endParaRPr lang="en" dirty="0">
              <a:solidFill>
                <a:schemeClr val="tx1">
                  <a:lumMod val="85000"/>
                  <a:lumOff val="15000"/>
                </a:schemeClr>
              </a:solidFill>
            </a:endParaRPr>
          </a:p>
        </p:txBody>
      </p:sp>
      <p:sp>
        <p:nvSpPr>
          <p:cNvPr id="6" name="Marcador de número de diapositiva 5">
            <a:extLst>
              <a:ext uri="{FF2B5EF4-FFF2-40B4-BE49-F238E27FC236}">
                <a16:creationId xmlns:a16="http://schemas.microsoft.com/office/drawing/2014/main" id="{81A1D21D-6861-3D47-97A8-2E2B32C5D784}"/>
              </a:ext>
            </a:extLst>
          </p:cNvPr>
          <p:cNvSpPr>
            <a:spLocks noGrp="1"/>
          </p:cNvSpPr>
          <p:nvPr>
            <p:ph type="sldNum" sz="quarter" idx="12"/>
          </p:nvPr>
        </p:nvSpPr>
        <p:spPr/>
        <p:txBody>
          <a:bodyPr/>
          <a:lstStyle/>
          <a:p>
            <a:fld id="{7EDAA5DF-D255-414A-BAD6-30287712E47C}" type="slidenum">
              <a:rPr lang="es-MX" smtClean="0"/>
              <a:t>5</a:t>
            </a:fld>
            <a:endParaRPr lang="es-MX"/>
          </a:p>
        </p:txBody>
      </p:sp>
    </p:spTree>
    <p:extLst>
      <p:ext uri="{BB962C8B-B14F-4D97-AF65-F5344CB8AC3E}">
        <p14:creationId xmlns:p14="http://schemas.microsoft.com/office/powerpoint/2010/main" val="2052540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ADC365-5DDE-C24B-82D8-6EC1686866B8}"/>
              </a:ext>
            </a:extLst>
          </p:cNvPr>
          <p:cNvSpPr>
            <a:spLocks noGrp="1"/>
          </p:cNvSpPr>
          <p:nvPr>
            <p:ph type="title"/>
          </p:nvPr>
        </p:nvSpPr>
        <p:spPr>
          <a:xfrm>
            <a:off x="2231136" y="333375"/>
            <a:ext cx="7729728" cy="1188720"/>
          </a:xfrm>
        </p:spPr>
        <p:txBody>
          <a:bodyPr/>
          <a:lstStyle/>
          <a:p>
            <a:r>
              <a:rPr lang="es-MX"/>
              <a:t>Exploratory analysis</a:t>
            </a:r>
            <a:endParaRPr lang="es-MX" dirty="0"/>
          </a:p>
        </p:txBody>
      </p:sp>
      <p:pic>
        <p:nvPicPr>
          <p:cNvPr id="2050" name="Picture 2" descr="https://lh4.googleusercontent.com/0v2CsqhuRLvdbJhu9YulwwHG0VZ4KgLQxyORYi34Wmwkfov5cnmE_VPcSzzzDiGESHpVyDTelnXYR_1eBOwfbVYtsKkt2IYnmfK_4zMZieOOp1fZ0cbm9bp5omD0Gxyusf_fqCC6">
            <a:extLst>
              <a:ext uri="{FF2B5EF4-FFF2-40B4-BE49-F238E27FC236}">
                <a16:creationId xmlns:a16="http://schemas.microsoft.com/office/drawing/2014/main" id="{3A8AF1C3-703A-D242-97F6-B095CF768CBA}"/>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657761" y="1965325"/>
            <a:ext cx="4216400" cy="4559300"/>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5031B96D-A1D4-FE43-BDE8-404AAF0511FB}"/>
              </a:ext>
            </a:extLst>
          </p:cNvPr>
          <p:cNvSpPr/>
          <p:nvPr/>
        </p:nvSpPr>
        <p:spPr>
          <a:xfrm>
            <a:off x="5438239" y="3101072"/>
            <a:ext cx="6096000" cy="2287806"/>
          </a:xfrm>
          <a:prstGeom prst="rect">
            <a:avLst/>
          </a:prstGeom>
        </p:spPr>
        <p:txBody>
          <a:bodyPr wrap="square">
            <a:spAutoFit/>
          </a:bodyPr>
          <a:lstStyle/>
          <a:p>
            <a:pPr marL="342900" indent="-342900" algn="just" defTabSz="914400" fontAlgn="base">
              <a:spcBef>
                <a:spcPts val="1000"/>
              </a:spcBef>
              <a:buClr>
                <a:schemeClr val="accent2"/>
              </a:buClr>
              <a:buFont typeface="Arial" panose="020B0604020202020204" pitchFamily="34" charset="0"/>
              <a:buChar char="•"/>
            </a:pPr>
            <a:r>
              <a:rPr lang="en" dirty="0"/>
              <a:t>No significant difference in the median values of the features for both classes (Up and Down). </a:t>
            </a:r>
          </a:p>
          <a:p>
            <a:pPr marL="342900" indent="-342900" algn="just" defTabSz="914400" fontAlgn="base">
              <a:spcBef>
                <a:spcPts val="1000"/>
              </a:spcBef>
              <a:buClr>
                <a:schemeClr val="accent2"/>
              </a:buClr>
              <a:buFont typeface="Arial" panose="020B0604020202020204" pitchFamily="34" charset="0"/>
              <a:buChar char="•"/>
            </a:pPr>
            <a:endParaRPr lang="en" dirty="0"/>
          </a:p>
          <a:p>
            <a:pPr marL="342900" indent="-342900" algn="just" defTabSz="914400" fontAlgn="base">
              <a:spcBef>
                <a:spcPts val="1000"/>
              </a:spcBef>
              <a:buClr>
                <a:schemeClr val="accent2"/>
              </a:buClr>
              <a:buFont typeface="Arial" panose="020B0604020202020204" pitchFamily="34" charset="0"/>
              <a:buChar char="•"/>
            </a:pPr>
            <a:r>
              <a:rPr lang="en" dirty="0"/>
              <a:t>It should be expected that the models are going to have difficulties in predicting our categorical response variable, ‘Direction’ which might result in poor prediction accuracy.</a:t>
            </a:r>
            <a:br>
              <a:rPr lang="en" dirty="0"/>
            </a:br>
            <a:endParaRPr lang="es-MX" dirty="0"/>
          </a:p>
        </p:txBody>
      </p:sp>
      <p:sp>
        <p:nvSpPr>
          <p:cNvPr id="6" name="Marcador de número de diapositiva 5">
            <a:extLst>
              <a:ext uri="{FF2B5EF4-FFF2-40B4-BE49-F238E27FC236}">
                <a16:creationId xmlns:a16="http://schemas.microsoft.com/office/drawing/2014/main" id="{0CA5F941-8B1B-494D-B0CA-6268AC638C35}"/>
              </a:ext>
            </a:extLst>
          </p:cNvPr>
          <p:cNvSpPr>
            <a:spLocks noGrp="1"/>
          </p:cNvSpPr>
          <p:nvPr>
            <p:ph type="sldNum" sz="quarter" idx="12"/>
          </p:nvPr>
        </p:nvSpPr>
        <p:spPr/>
        <p:txBody>
          <a:bodyPr/>
          <a:lstStyle/>
          <a:p>
            <a:fld id="{7EDAA5DF-D255-414A-BAD6-30287712E47C}" type="slidenum">
              <a:rPr lang="es-MX" smtClean="0"/>
              <a:t>6</a:t>
            </a:fld>
            <a:endParaRPr lang="es-MX"/>
          </a:p>
        </p:txBody>
      </p:sp>
    </p:spTree>
    <p:extLst>
      <p:ext uri="{BB962C8B-B14F-4D97-AF65-F5344CB8AC3E}">
        <p14:creationId xmlns:p14="http://schemas.microsoft.com/office/powerpoint/2010/main" val="2785698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ADC365-5DDE-C24B-82D8-6EC1686866B8}"/>
              </a:ext>
            </a:extLst>
          </p:cNvPr>
          <p:cNvSpPr>
            <a:spLocks noGrp="1"/>
          </p:cNvSpPr>
          <p:nvPr>
            <p:ph type="title"/>
          </p:nvPr>
        </p:nvSpPr>
        <p:spPr>
          <a:xfrm>
            <a:off x="2231136" y="333375"/>
            <a:ext cx="7729728" cy="1188720"/>
          </a:xfrm>
        </p:spPr>
        <p:txBody>
          <a:bodyPr/>
          <a:lstStyle/>
          <a:p>
            <a:r>
              <a:rPr lang="es-MX" dirty="0"/>
              <a:t>TRAINING AND TEST DATASETS</a:t>
            </a:r>
          </a:p>
        </p:txBody>
      </p:sp>
      <p:sp>
        <p:nvSpPr>
          <p:cNvPr id="6" name="Marcador de número de diapositiva 5">
            <a:extLst>
              <a:ext uri="{FF2B5EF4-FFF2-40B4-BE49-F238E27FC236}">
                <a16:creationId xmlns:a16="http://schemas.microsoft.com/office/drawing/2014/main" id="{0CA5F941-8B1B-494D-B0CA-6268AC638C35}"/>
              </a:ext>
            </a:extLst>
          </p:cNvPr>
          <p:cNvSpPr>
            <a:spLocks noGrp="1"/>
          </p:cNvSpPr>
          <p:nvPr>
            <p:ph type="sldNum" sz="quarter" idx="12"/>
          </p:nvPr>
        </p:nvSpPr>
        <p:spPr/>
        <p:txBody>
          <a:bodyPr/>
          <a:lstStyle/>
          <a:p>
            <a:fld id="{7EDAA5DF-D255-414A-BAD6-30287712E47C}" type="slidenum">
              <a:rPr lang="es-MX" smtClean="0"/>
              <a:t>7</a:t>
            </a:fld>
            <a:endParaRPr lang="es-MX"/>
          </a:p>
        </p:txBody>
      </p:sp>
      <p:pic>
        <p:nvPicPr>
          <p:cNvPr id="7" name="image6.png">
            <a:extLst>
              <a:ext uri="{FF2B5EF4-FFF2-40B4-BE49-F238E27FC236}">
                <a16:creationId xmlns:a16="http://schemas.microsoft.com/office/drawing/2014/main" id="{83A79ECA-FFB8-4AD4-BB45-B951E5D28275}"/>
              </a:ext>
            </a:extLst>
          </p:cNvPr>
          <p:cNvPicPr/>
          <p:nvPr/>
        </p:nvPicPr>
        <p:blipFill>
          <a:blip r:embed="rId2"/>
          <a:srcRect/>
          <a:stretch>
            <a:fillRect/>
          </a:stretch>
        </p:blipFill>
        <p:spPr>
          <a:xfrm>
            <a:off x="1081522" y="1964054"/>
            <a:ext cx="10043160" cy="2110106"/>
          </a:xfrm>
          <a:prstGeom prst="rect">
            <a:avLst/>
          </a:prstGeom>
          <a:ln/>
        </p:spPr>
      </p:pic>
      <p:sp>
        <p:nvSpPr>
          <p:cNvPr id="8" name="Rectángulo 7">
            <a:extLst>
              <a:ext uri="{FF2B5EF4-FFF2-40B4-BE49-F238E27FC236}">
                <a16:creationId xmlns:a16="http://schemas.microsoft.com/office/drawing/2014/main" id="{1F89D100-1D6F-4EEC-9C88-429A473FE6B6}"/>
              </a:ext>
            </a:extLst>
          </p:cNvPr>
          <p:cNvSpPr/>
          <p:nvPr/>
        </p:nvSpPr>
        <p:spPr>
          <a:xfrm>
            <a:off x="674232" y="4687959"/>
            <a:ext cx="10989448" cy="1051570"/>
          </a:xfrm>
          <a:prstGeom prst="rect">
            <a:avLst/>
          </a:prstGeom>
        </p:spPr>
        <p:txBody>
          <a:bodyPr wrap="square">
            <a:spAutoFit/>
          </a:bodyPr>
          <a:lstStyle/>
          <a:p>
            <a:pPr marL="342900" indent="-342900" algn="just" defTabSz="914400" fontAlgn="base">
              <a:spcBef>
                <a:spcPts val="1000"/>
              </a:spcBef>
              <a:buClr>
                <a:schemeClr val="accent2"/>
              </a:buClr>
              <a:buFont typeface="Arial" panose="020B0604020202020204" pitchFamily="34" charset="0"/>
              <a:buChar char="•"/>
            </a:pPr>
            <a:r>
              <a:rPr lang="en" dirty="0"/>
              <a:t>The splitting was done by randomly selecting 80% </a:t>
            </a:r>
            <a:r>
              <a:rPr lang="en-GB" dirty="0"/>
              <a:t>of the data for training and 20% for testing</a:t>
            </a:r>
            <a:r>
              <a:rPr lang="en" dirty="0"/>
              <a:t>.</a:t>
            </a:r>
          </a:p>
          <a:p>
            <a:pPr marL="342900" indent="-342900" algn="just" defTabSz="914400" fontAlgn="base">
              <a:spcBef>
                <a:spcPts val="1000"/>
              </a:spcBef>
              <a:buClr>
                <a:schemeClr val="accent2"/>
              </a:buClr>
              <a:buFont typeface="Arial" panose="020B0604020202020204" pitchFamily="34" charset="0"/>
              <a:buChar char="•"/>
            </a:pPr>
            <a:r>
              <a:rPr lang="en" dirty="0">
                <a:solidFill>
                  <a:schemeClr val="tx1">
                    <a:lumMod val="85000"/>
                    <a:lumOff val="15000"/>
                  </a:schemeClr>
                </a:solidFill>
              </a:rPr>
              <a:t>A validation over the classes distributions </a:t>
            </a:r>
            <a:r>
              <a:rPr lang="en-GB" dirty="0">
                <a:solidFill>
                  <a:schemeClr val="tx1">
                    <a:lumMod val="85000"/>
                    <a:lumOff val="15000"/>
                  </a:schemeClr>
                </a:solidFill>
              </a:rPr>
              <a:t>was done to ensure an equal representation of the class ‘</a:t>
            </a:r>
            <a:r>
              <a:rPr lang="en-GB" i="1" dirty="0">
                <a:solidFill>
                  <a:schemeClr val="tx1">
                    <a:lumMod val="85000"/>
                    <a:lumOff val="15000"/>
                  </a:schemeClr>
                </a:solidFill>
              </a:rPr>
              <a:t>Up</a:t>
            </a:r>
            <a:r>
              <a:rPr lang="en-GB" dirty="0">
                <a:solidFill>
                  <a:schemeClr val="tx1">
                    <a:lumMod val="85000"/>
                    <a:lumOff val="15000"/>
                  </a:schemeClr>
                </a:solidFill>
              </a:rPr>
              <a:t>’ in each split. </a:t>
            </a:r>
            <a:endParaRPr lang="en" dirty="0">
              <a:solidFill>
                <a:schemeClr val="tx1">
                  <a:lumMod val="85000"/>
                  <a:lumOff val="15000"/>
                </a:schemeClr>
              </a:solidFill>
            </a:endParaRPr>
          </a:p>
        </p:txBody>
      </p:sp>
    </p:spTree>
    <p:extLst>
      <p:ext uri="{BB962C8B-B14F-4D97-AF65-F5344CB8AC3E}">
        <p14:creationId xmlns:p14="http://schemas.microsoft.com/office/powerpoint/2010/main" val="2698349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EC7FF834-B204-4967-8D47-8BB36EAF0E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F780A22D-61EA-43E3-BD94-3E39CF902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18509"/>
            <a:ext cx="12192000" cy="193949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9ADC365-5DDE-C24B-82D8-6EC1686866B8}"/>
              </a:ext>
            </a:extLst>
          </p:cNvPr>
          <p:cNvSpPr>
            <a:spLocks noGrp="1"/>
          </p:cNvSpPr>
          <p:nvPr>
            <p:ph type="title"/>
          </p:nvPr>
        </p:nvSpPr>
        <p:spPr>
          <a:xfrm>
            <a:off x="1600200" y="5255873"/>
            <a:ext cx="8991600" cy="1264762"/>
          </a:xfrm>
        </p:spPr>
        <p:txBody>
          <a:bodyPr vert="horz" lIns="274320" tIns="182880" rIns="274320" bIns="182880" rtlCol="0" anchor="ctr" anchorCtr="1">
            <a:normAutofit/>
          </a:bodyPr>
          <a:lstStyle/>
          <a:p>
            <a:r>
              <a:rPr lang="en-US" sz="3200" dirty="0"/>
              <a:t>Logistic </a:t>
            </a:r>
            <a:r>
              <a:rPr lang="en-US" sz="3200" dirty="0" err="1"/>
              <a:t>REgression</a:t>
            </a:r>
            <a:endParaRPr lang="en-US" sz="3200" dirty="0"/>
          </a:p>
        </p:txBody>
      </p:sp>
      <p:pic>
        <p:nvPicPr>
          <p:cNvPr id="4098" name="Picture 2" descr="https://lh4.googleusercontent.com/U7ogjGP4qV3saFt2uvJeQhPOuA0RM_MjbhFvliliGwaFoaX0BdqxYH9I8zNPG1cUA-47XtL5ChVwB7PcyMqZNCWWMS4glDuHNs2_wJROGtkCX8zd_iaLvXbxvYkfag5IaJ0lrru1">
            <a:extLst>
              <a:ext uri="{FF2B5EF4-FFF2-40B4-BE49-F238E27FC236}">
                <a16:creationId xmlns:a16="http://schemas.microsoft.com/office/drawing/2014/main" id="{005283FA-4AD5-6C45-9C94-148C55AB46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5451" y="2297156"/>
            <a:ext cx="6719128" cy="2226856"/>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4600C718-35E5-8E4E-B6B0-EEB406D0D1D6}"/>
              </a:ext>
            </a:extLst>
          </p:cNvPr>
          <p:cNvSpPr/>
          <p:nvPr/>
        </p:nvSpPr>
        <p:spPr>
          <a:xfrm>
            <a:off x="246032" y="2297156"/>
            <a:ext cx="4172784" cy="1477328"/>
          </a:xfrm>
          <a:prstGeom prst="rect">
            <a:avLst/>
          </a:prstGeom>
        </p:spPr>
        <p:txBody>
          <a:bodyPr wrap="square">
            <a:spAutoFit/>
          </a:bodyPr>
          <a:lstStyle/>
          <a:p>
            <a:pPr marL="342900" indent="-342900" algn="just" defTabSz="914400" fontAlgn="base">
              <a:spcBef>
                <a:spcPts val="1000"/>
              </a:spcBef>
              <a:buClr>
                <a:schemeClr val="accent2"/>
              </a:buClr>
              <a:buFont typeface="Arial" panose="020B0604020202020204" pitchFamily="34" charset="0"/>
              <a:buChar char="•"/>
            </a:pPr>
            <a:r>
              <a:rPr lang="en" dirty="0"/>
              <a:t>Out of our five predictors, only the parameter for </a:t>
            </a:r>
            <a:r>
              <a:rPr lang="en" b="1" dirty="0"/>
              <a:t>‘Lag1</a:t>
            </a:r>
            <a:r>
              <a:rPr lang="en" dirty="0"/>
              <a:t>’ is significant at a 5% level. At a 10% level, the parameter for ‘</a:t>
            </a:r>
            <a:r>
              <a:rPr lang="en" b="1" dirty="0"/>
              <a:t>Volume’ </a:t>
            </a:r>
            <a:r>
              <a:rPr lang="en" dirty="0"/>
              <a:t>is also significant. </a:t>
            </a:r>
            <a:br>
              <a:rPr lang="en" dirty="0"/>
            </a:br>
            <a:endParaRPr lang="es-MX" dirty="0"/>
          </a:p>
        </p:txBody>
      </p:sp>
      <p:sp>
        <p:nvSpPr>
          <p:cNvPr id="9" name="Rectángulo 8">
            <a:extLst>
              <a:ext uri="{FF2B5EF4-FFF2-40B4-BE49-F238E27FC236}">
                <a16:creationId xmlns:a16="http://schemas.microsoft.com/office/drawing/2014/main" id="{17BC7BA4-D25A-5545-BFA4-1D09382E5A9C}"/>
              </a:ext>
            </a:extLst>
          </p:cNvPr>
          <p:cNvSpPr/>
          <p:nvPr/>
        </p:nvSpPr>
        <p:spPr>
          <a:xfrm>
            <a:off x="6268721" y="3007360"/>
            <a:ext cx="1341120" cy="28448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Marcador de número de diapositiva 2">
            <a:extLst>
              <a:ext uri="{FF2B5EF4-FFF2-40B4-BE49-F238E27FC236}">
                <a16:creationId xmlns:a16="http://schemas.microsoft.com/office/drawing/2014/main" id="{A6F529D3-F605-B146-BFAC-A4FC03627A8E}"/>
              </a:ext>
            </a:extLst>
          </p:cNvPr>
          <p:cNvSpPr>
            <a:spLocks noGrp="1"/>
          </p:cNvSpPr>
          <p:nvPr>
            <p:ph type="sldNum" sz="quarter" idx="12"/>
          </p:nvPr>
        </p:nvSpPr>
        <p:spPr/>
        <p:txBody>
          <a:bodyPr/>
          <a:lstStyle/>
          <a:p>
            <a:fld id="{7EDAA5DF-D255-414A-BAD6-30287712E47C}" type="slidenum">
              <a:rPr lang="es-MX" smtClean="0"/>
              <a:t>8</a:t>
            </a:fld>
            <a:endParaRPr lang="es-MX"/>
          </a:p>
        </p:txBody>
      </p:sp>
      <p:sp>
        <p:nvSpPr>
          <p:cNvPr id="11" name="Rectángulo 10">
            <a:extLst>
              <a:ext uri="{FF2B5EF4-FFF2-40B4-BE49-F238E27FC236}">
                <a16:creationId xmlns:a16="http://schemas.microsoft.com/office/drawing/2014/main" id="{D44F7CB4-A5EB-4900-BE6F-2EAF99FF8556}"/>
              </a:ext>
            </a:extLst>
          </p:cNvPr>
          <p:cNvSpPr/>
          <p:nvPr/>
        </p:nvSpPr>
        <p:spPr>
          <a:xfrm>
            <a:off x="6268721" y="4145280"/>
            <a:ext cx="1341120" cy="28448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5" name="Imagen 4">
            <a:extLst>
              <a:ext uri="{FF2B5EF4-FFF2-40B4-BE49-F238E27FC236}">
                <a16:creationId xmlns:a16="http://schemas.microsoft.com/office/drawing/2014/main" id="{83FE57C2-AD0D-4894-9A19-FF9CFC10458B}"/>
              </a:ext>
            </a:extLst>
          </p:cNvPr>
          <p:cNvPicPr>
            <a:picLocks noChangeAspect="1"/>
          </p:cNvPicPr>
          <p:nvPr/>
        </p:nvPicPr>
        <p:blipFill>
          <a:blip r:embed="rId3"/>
          <a:stretch>
            <a:fillRect/>
          </a:stretch>
        </p:blipFill>
        <p:spPr>
          <a:xfrm>
            <a:off x="2332424" y="945458"/>
            <a:ext cx="7248836" cy="952228"/>
          </a:xfrm>
          <a:prstGeom prst="rect">
            <a:avLst/>
          </a:prstGeom>
        </p:spPr>
      </p:pic>
      <p:sp>
        <p:nvSpPr>
          <p:cNvPr id="12" name="Rectángulo 11">
            <a:extLst>
              <a:ext uri="{FF2B5EF4-FFF2-40B4-BE49-F238E27FC236}">
                <a16:creationId xmlns:a16="http://schemas.microsoft.com/office/drawing/2014/main" id="{1B3E6AA8-18BB-4A3D-982E-DE839012601E}"/>
              </a:ext>
            </a:extLst>
          </p:cNvPr>
          <p:cNvSpPr/>
          <p:nvPr/>
        </p:nvSpPr>
        <p:spPr>
          <a:xfrm>
            <a:off x="246031" y="348521"/>
            <a:ext cx="11508547" cy="646331"/>
          </a:xfrm>
          <a:prstGeom prst="rect">
            <a:avLst/>
          </a:prstGeom>
        </p:spPr>
        <p:txBody>
          <a:bodyPr wrap="square">
            <a:spAutoFit/>
          </a:bodyPr>
          <a:lstStyle/>
          <a:p>
            <a:pPr marL="342900" indent="-342900" defTabSz="914400" fontAlgn="base">
              <a:spcBef>
                <a:spcPts val="1000"/>
              </a:spcBef>
              <a:buClr>
                <a:schemeClr val="accent2"/>
              </a:buClr>
              <a:buFont typeface="Arial" panose="020B0604020202020204" pitchFamily="34" charset="0"/>
              <a:buChar char="•"/>
            </a:pPr>
            <a:r>
              <a:rPr lang="en-GB" dirty="0"/>
              <a:t>The probability of belonging to class ‘</a:t>
            </a:r>
            <a:r>
              <a:rPr lang="en-GB" i="1" dirty="0"/>
              <a:t>Up</a:t>
            </a:r>
            <a:r>
              <a:rPr lang="en-GB" dirty="0"/>
              <a:t>’ is computed by using the logistic function:</a:t>
            </a:r>
            <a:r>
              <a:rPr lang="en" dirty="0"/>
              <a:t> </a:t>
            </a:r>
            <a:br>
              <a:rPr lang="en" dirty="0"/>
            </a:br>
            <a:endParaRPr lang="es-MX" dirty="0"/>
          </a:p>
        </p:txBody>
      </p:sp>
    </p:spTree>
    <p:extLst>
      <p:ext uri="{BB962C8B-B14F-4D97-AF65-F5344CB8AC3E}">
        <p14:creationId xmlns:p14="http://schemas.microsoft.com/office/powerpoint/2010/main" val="1298864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EC7FF834-B204-4967-8D47-8BB36EAF0E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F780A22D-61EA-43E3-BD94-3E39CF902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18509"/>
            <a:ext cx="12192000" cy="193949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9ADC365-5DDE-C24B-82D8-6EC1686866B8}"/>
              </a:ext>
            </a:extLst>
          </p:cNvPr>
          <p:cNvSpPr>
            <a:spLocks noGrp="1"/>
          </p:cNvSpPr>
          <p:nvPr>
            <p:ph type="title"/>
          </p:nvPr>
        </p:nvSpPr>
        <p:spPr>
          <a:xfrm>
            <a:off x="1600198" y="5285471"/>
            <a:ext cx="8991600" cy="1264762"/>
          </a:xfrm>
        </p:spPr>
        <p:txBody>
          <a:bodyPr vert="horz" lIns="274320" tIns="182880" rIns="274320" bIns="182880" rtlCol="0" anchor="ctr" anchorCtr="1">
            <a:normAutofit/>
          </a:bodyPr>
          <a:lstStyle/>
          <a:p>
            <a:r>
              <a:rPr lang="en-US" sz="3200" dirty="0"/>
              <a:t>Logistic </a:t>
            </a:r>
            <a:r>
              <a:rPr lang="en-US" sz="3200" dirty="0" err="1"/>
              <a:t>REgression</a:t>
            </a:r>
            <a:endParaRPr lang="en-US" sz="3200" dirty="0"/>
          </a:p>
        </p:txBody>
      </p:sp>
      <p:pic>
        <p:nvPicPr>
          <p:cNvPr id="11" name="Picture 2" descr="https://lh4.googleusercontent.com/2AAywuYVhZPJiKs9Q6b7uzuDwgxtp-usyY2Jdym08UlerAQoAc6cJgN_W-sJQbrRMJo5zB604gGjyWjXQNn9Qk8C4SuFLOlPYZVaJ7yDNxV3OIGEcpikio1FMfTkNMA8viKobZPo">
            <a:extLst>
              <a:ext uri="{FF2B5EF4-FFF2-40B4-BE49-F238E27FC236}">
                <a16:creationId xmlns:a16="http://schemas.microsoft.com/office/drawing/2014/main" id="{87B093C7-47B8-A841-ACC0-659A90E589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3735" y="1837396"/>
            <a:ext cx="8399086" cy="1827708"/>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7C903E92-604B-9948-8B8F-138420EBF5B8}"/>
              </a:ext>
            </a:extLst>
          </p:cNvPr>
          <p:cNvSpPr/>
          <p:nvPr/>
        </p:nvSpPr>
        <p:spPr>
          <a:xfrm>
            <a:off x="-353456" y="-4925856"/>
            <a:ext cx="9856520" cy="1328569"/>
          </a:xfrm>
          <a:prstGeom prst="rect">
            <a:avLst/>
          </a:prstGeom>
        </p:spPr>
        <p:txBody>
          <a:bodyPr wrap="square">
            <a:spAutoFit/>
          </a:bodyPr>
          <a:lstStyle/>
          <a:p>
            <a:pPr marL="342900" indent="-342900" algn="just" defTabSz="914400" fontAlgn="base">
              <a:spcBef>
                <a:spcPts val="1000"/>
              </a:spcBef>
              <a:buClr>
                <a:schemeClr val="accent2"/>
              </a:buClr>
              <a:buFont typeface="Arial" panose="020B0604020202020204" pitchFamily="34" charset="0"/>
              <a:buChar char="•"/>
            </a:pPr>
            <a:r>
              <a:rPr lang="en" dirty="0"/>
              <a:t>This performance is quite poor because by doing a random classification we would expect accuracy of around 50%, so the model is only a minor improvement over randomness.</a:t>
            </a:r>
          </a:p>
          <a:p>
            <a:pPr marL="342900" indent="-342900" algn="just" defTabSz="914400" fontAlgn="base">
              <a:spcBef>
                <a:spcPts val="1000"/>
              </a:spcBef>
              <a:buClr>
                <a:schemeClr val="accent2"/>
              </a:buClr>
              <a:buFont typeface="Arial" panose="020B0604020202020204" pitchFamily="34" charset="0"/>
              <a:buChar char="•"/>
            </a:pPr>
            <a:r>
              <a:rPr lang="en" dirty="0"/>
              <a:t>This is because the model predicts a much higher percentage of Up than the original distribution (81.1% vs. 55.2%). </a:t>
            </a:r>
          </a:p>
        </p:txBody>
      </p:sp>
      <p:sp>
        <p:nvSpPr>
          <p:cNvPr id="14" name="Marcador de número de diapositiva 13">
            <a:extLst>
              <a:ext uri="{FF2B5EF4-FFF2-40B4-BE49-F238E27FC236}">
                <a16:creationId xmlns:a16="http://schemas.microsoft.com/office/drawing/2014/main" id="{82E92E1A-EBD3-C841-A689-1C8B1ADD9C91}"/>
              </a:ext>
            </a:extLst>
          </p:cNvPr>
          <p:cNvSpPr>
            <a:spLocks noGrp="1"/>
          </p:cNvSpPr>
          <p:nvPr>
            <p:ph type="sldNum" sz="quarter" idx="12"/>
          </p:nvPr>
        </p:nvSpPr>
        <p:spPr/>
        <p:txBody>
          <a:bodyPr/>
          <a:lstStyle/>
          <a:p>
            <a:fld id="{7EDAA5DF-D255-414A-BAD6-30287712E47C}" type="slidenum">
              <a:rPr lang="es-MX" smtClean="0"/>
              <a:t>9</a:t>
            </a:fld>
            <a:endParaRPr lang="es-MX"/>
          </a:p>
        </p:txBody>
      </p:sp>
      <p:sp>
        <p:nvSpPr>
          <p:cNvPr id="10" name="Rectángulo 9">
            <a:extLst>
              <a:ext uri="{FF2B5EF4-FFF2-40B4-BE49-F238E27FC236}">
                <a16:creationId xmlns:a16="http://schemas.microsoft.com/office/drawing/2014/main" id="{FDC92042-A094-4065-AD07-D8B03078CD1C}"/>
              </a:ext>
            </a:extLst>
          </p:cNvPr>
          <p:cNvSpPr/>
          <p:nvPr/>
        </p:nvSpPr>
        <p:spPr>
          <a:xfrm>
            <a:off x="127378" y="181192"/>
            <a:ext cx="11937241" cy="1477328"/>
          </a:xfrm>
          <a:prstGeom prst="rect">
            <a:avLst/>
          </a:prstGeom>
        </p:spPr>
        <p:txBody>
          <a:bodyPr wrap="square">
            <a:spAutoFit/>
          </a:bodyPr>
          <a:lstStyle/>
          <a:p>
            <a:pPr marL="285750" indent="-285750" algn="just">
              <a:buClr>
                <a:schemeClr val="accent2">
                  <a:lumMod val="50000"/>
                </a:schemeClr>
              </a:buClr>
              <a:buFont typeface="Arial" panose="020B0604020202020204" pitchFamily="34" charset="0"/>
              <a:buChar char="•"/>
            </a:pPr>
            <a:r>
              <a:rPr lang="en" b="1" dirty="0"/>
              <a:t>Accuracy</a:t>
            </a:r>
            <a:r>
              <a:rPr lang="en" dirty="0"/>
              <a:t> over the training set is </a:t>
            </a:r>
            <a:r>
              <a:rPr lang="en" b="1" dirty="0"/>
              <a:t>55.6%</a:t>
            </a:r>
            <a:r>
              <a:rPr lang="en" dirty="0"/>
              <a:t> and it decreases in two points when testing the model over the validation set, </a:t>
            </a:r>
            <a:r>
              <a:rPr lang="en" b="1" dirty="0"/>
              <a:t>53.6%. </a:t>
            </a:r>
          </a:p>
          <a:p>
            <a:pPr marL="285750" indent="-285750" algn="just">
              <a:buClr>
                <a:schemeClr val="accent2">
                  <a:lumMod val="50000"/>
                </a:schemeClr>
              </a:buClr>
              <a:buFont typeface="Arial" panose="020B0604020202020204" pitchFamily="34" charset="0"/>
              <a:buChar char="•"/>
            </a:pPr>
            <a:endParaRPr lang="en" b="1" dirty="0"/>
          </a:p>
          <a:p>
            <a:pPr marL="285750" indent="-285750" algn="just">
              <a:buClr>
                <a:schemeClr val="accent2">
                  <a:lumMod val="50000"/>
                </a:schemeClr>
              </a:buClr>
              <a:buFont typeface="Arial" panose="020B0604020202020204" pitchFamily="34" charset="0"/>
              <a:buChar char="•"/>
            </a:pPr>
            <a:r>
              <a:rPr lang="en" b="1" dirty="0"/>
              <a:t>Sensitivity </a:t>
            </a:r>
            <a:r>
              <a:rPr lang="en" dirty="0"/>
              <a:t>(true positives) is very high </a:t>
            </a:r>
            <a:r>
              <a:rPr lang="en" b="1" dirty="0"/>
              <a:t>81.5% </a:t>
            </a:r>
            <a:r>
              <a:rPr lang="en" dirty="0"/>
              <a:t>whereas </a:t>
            </a:r>
            <a:r>
              <a:rPr lang="en-GB" b="1" dirty="0"/>
              <a:t>Specificity </a:t>
            </a:r>
            <a:r>
              <a:rPr lang="en" dirty="0"/>
              <a:t>(</a:t>
            </a:r>
            <a:r>
              <a:rPr lang="en-GB" dirty="0"/>
              <a:t>true negatives</a:t>
            </a:r>
            <a:r>
              <a:rPr lang="en" dirty="0"/>
              <a:t>) is low </a:t>
            </a:r>
            <a:r>
              <a:rPr lang="en" b="1" dirty="0"/>
              <a:t>19.3%</a:t>
            </a:r>
            <a:r>
              <a:rPr lang="en" dirty="0"/>
              <a:t>. The </a:t>
            </a:r>
            <a:r>
              <a:rPr lang="en-GB" dirty="0"/>
              <a:t>distribution of the predicted classes is unbalanced towards ‘</a:t>
            </a:r>
            <a:r>
              <a:rPr lang="en-GB" i="1" dirty="0"/>
              <a:t>Up</a:t>
            </a:r>
            <a:r>
              <a:rPr lang="en-GB" dirty="0"/>
              <a:t>’ (over 80% of the predictions).</a:t>
            </a:r>
            <a:endParaRPr lang="es-MX" dirty="0"/>
          </a:p>
        </p:txBody>
      </p:sp>
      <p:sp>
        <p:nvSpPr>
          <p:cNvPr id="12" name="Rectángulo 11">
            <a:extLst>
              <a:ext uri="{FF2B5EF4-FFF2-40B4-BE49-F238E27FC236}">
                <a16:creationId xmlns:a16="http://schemas.microsoft.com/office/drawing/2014/main" id="{DE51849B-8E1F-426C-9FA2-0728E345743D}"/>
              </a:ext>
            </a:extLst>
          </p:cNvPr>
          <p:cNvSpPr/>
          <p:nvPr/>
        </p:nvSpPr>
        <p:spPr>
          <a:xfrm>
            <a:off x="127378" y="3981230"/>
            <a:ext cx="10591800" cy="646331"/>
          </a:xfrm>
          <a:prstGeom prst="rect">
            <a:avLst/>
          </a:prstGeom>
        </p:spPr>
        <p:txBody>
          <a:bodyPr wrap="square">
            <a:spAutoFit/>
          </a:bodyPr>
          <a:lstStyle/>
          <a:p>
            <a:pPr marL="342900" indent="-342900" algn="just" defTabSz="914400" fontAlgn="base">
              <a:spcBef>
                <a:spcPts val="1000"/>
              </a:spcBef>
              <a:buClr>
                <a:schemeClr val="accent2"/>
              </a:buClr>
              <a:buFont typeface="Arial" panose="020B0604020202020204" pitchFamily="34" charset="0"/>
              <a:buChar char="•"/>
            </a:pPr>
            <a:r>
              <a:rPr lang="en" dirty="0"/>
              <a:t>The </a:t>
            </a:r>
            <a:r>
              <a:rPr lang="en-GB" dirty="0"/>
              <a:t>Average </a:t>
            </a:r>
            <a:r>
              <a:rPr lang="en" dirty="0"/>
              <a:t>Mean Square Error obtained when using the </a:t>
            </a:r>
            <a:r>
              <a:rPr lang="en" b="1" dirty="0"/>
              <a:t>Leave-one-out cross-validation</a:t>
            </a:r>
            <a:r>
              <a:rPr lang="en" dirty="0"/>
              <a:t> </a:t>
            </a:r>
            <a:r>
              <a:rPr lang="en" b="1" dirty="0"/>
              <a:t>0.247</a:t>
            </a:r>
            <a:r>
              <a:rPr lang="en" dirty="0"/>
              <a:t> This is a very high </a:t>
            </a:r>
            <a:r>
              <a:rPr lang="en-GB" dirty="0"/>
              <a:t>square </a:t>
            </a:r>
            <a:r>
              <a:rPr lang="en" dirty="0"/>
              <a:t>error </a:t>
            </a:r>
            <a:r>
              <a:rPr lang="en-GB" dirty="0"/>
              <a:t>for a variable that takes values between 0 and 1.</a:t>
            </a:r>
            <a:endParaRPr lang="es-MX" dirty="0"/>
          </a:p>
        </p:txBody>
      </p:sp>
    </p:spTree>
    <p:extLst>
      <p:ext uri="{BB962C8B-B14F-4D97-AF65-F5344CB8AC3E}">
        <p14:creationId xmlns:p14="http://schemas.microsoft.com/office/powerpoint/2010/main" val="4163874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ADC365-5DDE-C24B-82D8-6EC1686866B8}"/>
              </a:ext>
            </a:extLst>
          </p:cNvPr>
          <p:cNvSpPr>
            <a:spLocks noGrp="1"/>
          </p:cNvSpPr>
          <p:nvPr>
            <p:ph type="title"/>
          </p:nvPr>
        </p:nvSpPr>
        <p:spPr>
          <a:xfrm>
            <a:off x="2231136" y="368300"/>
            <a:ext cx="7729728" cy="1188720"/>
          </a:xfrm>
        </p:spPr>
        <p:txBody>
          <a:bodyPr/>
          <a:lstStyle/>
          <a:p>
            <a:r>
              <a:rPr lang="es-MX" sz="3200" dirty="0"/>
              <a:t>LINEAR DISCRIMINANT </a:t>
            </a:r>
            <a:r>
              <a:rPr lang="es-MX" sz="3200" dirty="0" err="1"/>
              <a:t>ANALYSis</a:t>
            </a:r>
            <a:endParaRPr lang="es-MX" sz="3200" dirty="0"/>
          </a:p>
        </p:txBody>
      </p:sp>
      <p:sp>
        <p:nvSpPr>
          <p:cNvPr id="4" name="Marcador de número de diapositiva 3">
            <a:extLst>
              <a:ext uri="{FF2B5EF4-FFF2-40B4-BE49-F238E27FC236}">
                <a16:creationId xmlns:a16="http://schemas.microsoft.com/office/drawing/2014/main" id="{D4FBC93B-5B80-CE43-AA39-9EA6D5AD4ED4}"/>
              </a:ext>
            </a:extLst>
          </p:cNvPr>
          <p:cNvSpPr>
            <a:spLocks noGrp="1"/>
          </p:cNvSpPr>
          <p:nvPr>
            <p:ph type="sldNum" sz="quarter" idx="12"/>
          </p:nvPr>
        </p:nvSpPr>
        <p:spPr>
          <a:xfrm>
            <a:off x="10276044" y="6259016"/>
            <a:ext cx="365760" cy="365760"/>
          </a:xfrm>
        </p:spPr>
        <p:txBody>
          <a:bodyPr/>
          <a:lstStyle/>
          <a:p>
            <a:fld id="{7EDAA5DF-D255-414A-BAD6-30287712E47C}" type="slidenum">
              <a:rPr lang="es-MX" smtClean="0"/>
              <a:t>10</a:t>
            </a:fld>
            <a:endParaRPr lang="es-MX"/>
          </a:p>
        </p:txBody>
      </p:sp>
      <p:pic>
        <p:nvPicPr>
          <p:cNvPr id="5" name="Picture 2" descr="https://lh5.googleusercontent.com/uGcI1TbFsplyEilIby169LY5ZTRBBXUDSJvSh3lJXOFZZqjsNc_YxMwM_9GpkRANrraTWVXUqnYA1UOnzhPaeF1t0mEt-UPwJ4L1vruE3cJUuBqq1fVPVpTqwPNjpKn_J5Ct5Au4">
            <a:extLst>
              <a:ext uri="{FF2B5EF4-FFF2-40B4-BE49-F238E27FC236}">
                <a16:creationId xmlns:a16="http://schemas.microsoft.com/office/drawing/2014/main" id="{7A72E2A5-92F6-4D58-985E-B1FD0531C46A}"/>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6985653" y="3115169"/>
            <a:ext cx="4654967" cy="3222451"/>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0B28AE88-527C-424C-97F4-1B3B23782C50}"/>
              </a:ext>
            </a:extLst>
          </p:cNvPr>
          <p:cNvSpPr/>
          <p:nvPr/>
        </p:nvSpPr>
        <p:spPr>
          <a:xfrm>
            <a:off x="324181" y="3177253"/>
            <a:ext cx="6096000" cy="3098284"/>
          </a:xfrm>
          <a:prstGeom prst="rect">
            <a:avLst/>
          </a:prstGeom>
        </p:spPr>
        <p:txBody>
          <a:bodyPr wrap="square">
            <a:spAutoFit/>
          </a:bodyPr>
          <a:lstStyle/>
          <a:p>
            <a:pPr marL="342900" indent="-342900" algn="just" defTabSz="914400" fontAlgn="base">
              <a:spcBef>
                <a:spcPts val="1000"/>
              </a:spcBef>
              <a:buClr>
                <a:schemeClr val="accent2"/>
              </a:buClr>
              <a:buFont typeface="Arial" panose="020B0604020202020204" pitchFamily="34" charset="0"/>
              <a:buChar char="•"/>
            </a:pPr>
            <a:r>
              <a:rPr lang="en" dirty="0"/>
              <a:t>The graphs represent one-dimensional separation of the group Down and Up. </a:t>
            </a:r>
          </a:p>
          <a:p>
            <a:pPr marL="342900" indent="-342900" algn="just" defTabSz="914400" fontAlgn="base">
              <a:spcBef>
                <a:spcPts val="1000"/>
              </a:spcBef>
              <a:buClr>
                <a:schemeClr val="accent2"/>
              </a:buClr>
              <a:buFont typeface="Arial" panose="020B0604020202020204" pitchFamily="34" charset="0"/>
              <a:buChar char="•"/>
            </a:pPr>
            <a:endParaRPr lang="en" dirty="0"/>
          </a:p>
          <a:p>
            <a:pPr marL="342900" indent="-342900" algn="just" defTabSz="914400" fontAlgn="base">
              <a:spcBef>
                <a:spcPts val="1000"/>
              </a:spcBef>
              <a:buClr>
                <a:schemeClr val="accent2"/>
              </a:buClr>
              <a:buFont typeface="Arial" panose="020B0604020202020204" pitchFamily="34" charset="0"/>
              <a:buChar char="•"/>
            </a:pPr>
            <a:r>
              <a:rPr lang="en" dirty="0"/>
              <a:t>Projection of the data after the implementation of the Linear Discriminant classification. </a:t>
            </a:r>
          </a:p>
          <a:p>
            <a:pPr marL="342900" indent="-342900" algn="just" defTabSz="914400" fontAlgn="base">
              <a:spcBef>
                <a:spcPts val="1000"/>
              </a:spcBef>
              <a:buClr>
                <a:schemeClr val="accent2"/>
              </a:buClr>
              <a:buFont typeface="Arial" panose="020B0604020202020204" pitchFamily="34" charset="0"/>
              <a:buChar char="•"/>
            </a:pPr>
            <a:endParaRPr lang="en" dirty="0"/>
          </a:p>
          <a:p>
            <a:pPr marL="342900" indent="-342900" algn="just" defTabSz="914400" fontAlgn="base">
              <a:spcBef>
                <a:spcPts val="1000"/>
              </a:spcBef>
              <a:buClr>
                <a:schemeClr val="accent2"/>
              </a:buClr>
              <a:buFont typeface="Arial" panose="020B0604020202020204" pitchFamily="34" charset="0"/>
              <a:buChar char="•"/>
            </a:pPr>
            <a:r>
              <a:rPr lang="en" dirty="0"/>
              <a:t>It shows that even after the projection procedure, the two classes are almost indistinguishable and therefore, not easily separable.</a:t>
            </a:r>
          </a:p>
        </p:txBody>
      </p:sp>
      <p:sp>
        <p:nvSpPr>
          <p:cNvPr id="7" name="Rectángulo 6">
            <a:extLst>
              <a:ext uri="{FF2B5EF4-FFF2-40B4-BE49-F238E27FC236}">
                <a16:creationId xmlns:a16="http://schemas.microsoft.com/office/drawing/2014/main" id="{73A4327B-A661-4F82-90E8-818FBB5E22F2}"/>
              </a:ext>
            </a:extLst>
          </p:cNvPr>
          <p:cNvSpPr/>
          <p:nvPr/>
        </p:nvSpPr>
        <p:spPr>
          <a:xfrm>
            <a:off x="246031" y="1673885"/>
            <a:ext cx="11508547" cy="646331"/>
          </a:xfrm>
          <a:prstGeom prst="rect">
            <a:avLst/>
          </a:prstGeom>
        </p:spPr>
        <p:txBody>
          <a:bodyPr wrap="square">
            <a:spAutoFit/>
          </a:bodyPr>
          <a:lstStyle/>
          <a:p>
            <a:pPr marL="342900" indent="-342900" defTabSz="914400" fontAlgn="base">
              <a:spcBef>
                <a:spcPts val="1000"/>
              </a:spcBef>
              <a:buClr>
                <a:schemeClr val="accent2"/>
              </a:buClr>
              <a:buFont typeface="Arial" panose="020B0604020202020204" pitchFamily="34" charset="0"/>
              <a:buChar char="•"/>
            </a:pPr>
            <a:r>
              <a:rPr lang="en-GB" dirty="0"/>
              <a:t>The probability of belonging to class ‘</a:t>
            </a:r>
            <a:r>
              <a:rPr lang="en-GB" i="1" dirty="0"/>
              <a:t>Up</a:t>
            </a:r>
            <a:r>
              <a:rPr lang="en-GB" dirty="0"/>
              <a:t>’ is computed by using the Bayes Theorem as:</a:t>
            </a:r>
            <a:r>
              <a:rPr lang="en" dirty="0"/>
              <a:t> </a:t>
            </a:r>
            <a:br>
              <a:rPr lang="en" dirty="0"/>
            </a:br>
            <a:endParaRPr lang="es-MX" dirty="0"/>
          </a:p>
        </p:txBody>
      </p:sp>
      <p:pic>
        <p:nvPicPr>
          <p:cNvPr id="3" name="Imagen 2">
            <a:extLst>
              <a:ext uri="{FF2B5EF4-FFF2-40B4-BE49-F238E27FC236}">
                <a16:creationId xmlns:a16="http://schemas.microsoft.com/office/drawing/2014/main" id="{C7CF6326-0262-492C-8DA0-E3FF72B99C60}"/>
              </a:ext>
            </a:extLst>
          </p:cNvPr>
          <p:cNvPicPr>
            <a:picLocks noChangeAspect="1"/>
          </p:cNvPicPr>
          <p:nvPr/>
        </p:nvPicPr>
        <p:blipFill>
          <a:blip r:embed="rId4"/>
          <a:stretch>
            <a:fillRect/>
          </a:stretch>
        </p:blipFill>
        <p:spPr>
          <a:xfrm>
            <a:off x="3461891" y="2097693"/>
            <a:ext cx="5076825" cy="885825"/>
          </a:xfrm>
          <a:prstGeom prst="rect">
            <a:avLst/>
          </a:prstGeom>
        </p:spPr>
      </p:pic>
    </p:spTree>
    <p:extLst>
      <p:ext uri="{BB962C8B-B14F-4D97-AF65-F5344CB8AC3E}">
        <p14:creationId xmlns:p14="http://schemas.microsoft.com/office/powerpoint/2010/main" val="2919848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ADC365-5DDE-C24B-82D8-6EC1686866B8}"/>
              </a:ext>
            </a:extLst>
          </p:cNvPr>
          <p:cNvSpPr>
            <a:spLocks noGrp="1"/>
          </p:cNvSpPr>
          <p:nvPr>
            <p:ph type="title"/>
          </p:nvPr>
        </p:nvSpPr>
        <p:spPr>
          <a:xfrm>
            <a:off x="2231136" y="368300"/>
            <a:ext cx="7729728" cy="1188720"/>
          </a:xfrm>
        </p:spPr>
        <p:txBody>
          <a:bodyPr/>
          <a:lstStyle/>
          <a:p>
            <a:r>
              <a:rPr lang="es-MX" sz="3200" dirty="0"/>
              <a:t>LINEAR DISCRIMINANT </a:t>
            </a:r>
            <a:r>
              <a:rPr lang="es-MX" sz="3200" dirty="0" err="1"/>
              <a:t>ANALYSis</a:t>
            </a:r>
            <a:endParaRPr lang="es-MX" sz="3200" dirty="0"/>
          </a:p>
        </p:txBody>
      </p:sp>
      <p:sp>
        <p:nvSpPr>
          <p:cNvPr id="4" name="Marcador de número de diapositiva 3">
            <a:extLst>
              <a:ext uri="{FF2B5EF4-FFF2-40B4-BE49-F238E27FC236}">
                <a16:creationId xmlns:a16="http://schemas.microsoft.com/office/drawing/2014/main" id="{D4FBC93B-5B80-CE43-AA39-9EA6D5AD4ED4}"/>
              </a:ext>
            </a:extLst>
          </p:cNvPr>
          <p:cNvSpPr>
            <a:spLocks noGrp="1"/>
          </p:cNvSpPr>
          <p:nvPr>
            <p:ph type="sldNum" sz="quarter" idx="12"/>
          </p:nvPr>
        </p:nvSpPr>
        <p:spPr/>
        <p:txBody>
          <a:bodyPr/>
          <a:lstStyle/>
          <a:p>
            <a:fld id="{7EDAA5DF-D255-414A-BAD6-30287712E47C}" type="slidenum">
              <a:rPr lang="es-MX" smtClean="0"/>
              <a:t>11</a:t>
            </a:fld>
            <a:endParaRPr lang="es-MX"/>
          </a:p>
        </p:txBody>
      </p:sp>
      <p:sp>
        <p:nvSpPr>
          <p:cNvPr id="7" name="Rectángulo 6">
            <a:extLst>
              <a:ext uri="{FF2B5EF4-FFF2-40B4-BE49-F238E27FC236}">
                <a16:creationId xmlns:a16="http://schemas.microsoft.com/office/drawing/2014/main" id="{4B58907D-EC15-467B-BF87-A49A94537A15}"/>
              </a:ext>
            </a:extLst>
          </p:cNvPr>
          <p:cNvSpPr/>
          <p:nvPr/>
        </p:nvSpPr>
        <p:spPr>
          <a:xfrm>
            <a:off x="127378" y="1898232"/>
            <a:ext cx="11937241" cy="1477328"/>
          </a:xfrm>
          <a:prstGeom prst="rect">
            <a:avLst/>
          </a:prstGeom>
        </p:spPr>
        <p:txBody>
          <a:bodyPr wrap="square">
            <a:spAutoFit/>
          </a:bodyPr>
          <a:lstStyle/>
          <a:p>
            <a:pPr marL="285750" indent="-285750" algn="just">
              <a:buClr>
                <a:schemeClr val="accent2">
                  <a:lumMod val="50000"/>
                </a:schemeClr>
              </a:buClr>
              <a:buFont typeface="Arial" panose="020B0604020202020204" pitchFamily="34" charset="0"/>
              <a:buChar char="•"/>
            </a:pPr>
            <a:r>
              <a:rPr lang="en" b="1" dirty="0"/>
              <a:t>Accuracy</a:t>
            </a:r>
            <a:r>
              <a:rPr lang="en" dirty="0"/>
              <a:t> over the training set is </a:t>
            </a:r>
            <a:r>
              <a:rPr lang="en" b="1" dirty="0"/>
              <a:t>55.5%</a:t>
            </a:r>
            <a:r>
              <a:rPr lang="en" dirty="0"/>
              <a:t> and it decreases in two points when testing the model over the validation set, </a:t>
            </a:r>
            <a:r>
              <a:rPr lang="en" b="1" dirty="0"/>
              <a:t>53.6%. </a:t>
            </a:r>
          </a:p>
          <a:p>
            <a:pPr marL="285750" indent="-285750" algn="just">
              <a:buClr>
                <a:schemeClr val="accent2">
                  <a:lumMod val="50000"/>
                </a:schemeClr>
              </a:buClr>
              <a:buFont typeface="Arial" panose="020B0604020202020204" pitchFamily="34" charset="0"/>
              <a:buChar char="•"/>
            </a:pPr>
            <a:endParaRPr lang="en" b="1" dirty="0"/>
          </a:p>
          <a:p>
            <a:pPr marL="285750" indent="-285750" algn="just">
              <a:buClr>
                <a:schemeClr val="accent2">
                  <a:lumMod val="50000"/>
                </a:schemeClr>
              </a:buClr>
              <a:buFont typeface="Arial" panose="020B0604020202020204" pitchFamily="34" charset="0"/>
              <a:buChar char="•"/>
            </a:pPr>
            <a:r>
              <a:rPr lang="en" b="1" dirty="0"/>
              <a:t>Sensitivity </a:t>
            </a:r>
            <a:r>
              <a:rPr lang="en" dirty="0"/>
              <a:t>(true positives) is very high </a:t>
            </a:r>
            <a:r>
              <a:rPr lang="en" b="1" dirty="0"/>
              <a:t>81.5% </a:t>
            </a:r>
            <a:r>
              <a:rPr lang="en" dirty="0"/>
              <a:t>whereas </a:t>
            </a:r>
            <a:r>
              <a:rPr lang="en-GB" b="1" dirty="0"/>
              <a:t>Specificity </a:t>
            </a:r>
            <a:r>
              <a:rPr lang="en" dirty="0"/>
              <a:t>(</a:t>
            </a:r>
            <a:r>
              <a:rPr lang="en-GB" dirty="0"/>
              <a:t>true negatives</a:t>
            </a:r>
            <a:r>
              <a:rPr lang="en" dirty="0"/>
              <a:t>) is low </a:t>
            </a:r>
            <a:r>
              <a:rPr lang="en" b="1" dirty="0"/>
              <a:t>19.3%</a:t>
            </a:r>
            <a:r>
              <a:rPr lang="en" dirty="0"/>
              <a:t>. The </a:t>
            </a:r>
            <a:r>
              <a:rPr lang="en-GB" dirty="0"/>
              <a:t>distribution of the predicted classes is unbalanced towards ‘</a:t>
            </a:r>
            <a:r>
              <a:rPr lang="en-GB" i="1" dirty="0"/>
              <a:t>Up</a:t>
            </a:r>
            <a:r>
              <a:rPr lang="en-GB" dirty="0"/>
              <a:t>’ (over 80% of the predictions).</a:t>
            </a:r>
            <a:endParaRPr lang="es-MX" dirty="0"/>
          </a:p>
        </p:txBody>
      </p:sp>
      <p:sp>
        <p:nvSpPr>
          <p:cNvPr id="8" name="Rectángulo 7">
            <a:extLst>
              <a:ext uri="{FF2B5EF4-FFF2-40B4-BE49-F238E27FC236}">
                <a16:creationId xmlns:a16="http://schemas.microsoft.com/office/drawing/2014/main" id="{DC02879B-6AB8-4C6C-8D27-6B5BFB56A475}"/>
              </a:ext>
            </a:extLst>
          </p:cNvPr>
          <p:cNvSpPr/>
          <p:nvPr/>
        </p:nvSpPr>
        <p:spPr>
          <a:xfrm>
            <a:off x="127378" y="5698270"/>
            <a:ext cx="10591800" cy="646331"/>
          </a:xfrm>
          <a:prstGeom prst="rect">
            <a:avLst/>
          </a:prstGeom>
        </p:spPr>
        <p:txBody>
          <a:bodyPr wrap="square">
            <a:spAutoFit/>
          </a:bodyPr>
          <a:lstStyle/>
          <a:p>
            <a:pPr marL="342900" indent="-342900" algn="just" defTabSz="914400" fontAlgn="base">
              <a:spcBef>
                <a:spcPts val="1000"/>
              </a:spcBef>
              <a:buClr>
                <a:schemeClr val="accent2"/>
              </a:buClr>
              <a:buFont typeface="Arial" panose="020B0604020202020204" pitchFamily="34" charset="0"/>
              <a:buChar char="•"/>
            </a:pPr>
            <a:r>
              <a:rPr lang="en" dirty="0"/>
              <a:t>The </a:t>
            </a:r>
            <a:r>
              <a:rPr lang="en-GB" dirty="0"/>
              <a:t>Average </a:t>
            </a:r>
            <a:r>
              <a:rPr lang="en" dirty="0"/>
              <a:t>Mean Square Error obtained when using the </a:t>
            </a:r>
            <a:r>
              <a:rPr lang="en" b="1" dirty="0"/>
              <a:t>Leave-one-out cross-validation</a:t>
            </a:r>
            <a:r>
              <a:rPr lang="en" dirty="0"/>
              <a:t> </a:t>
            </a:r>
            <a:r>
              <a:rPr lang="en" b="1" dirty="0"/>
              <a:t>0.248</a:t>
            </a:r>
            <a:r>
              <a:rPr lang="en" dirty="0"/>
              <a:t>. This is a very high </a:t>
            </a:r>
            <a:r>
              <a:rPr lang="en-GB" dirty="0"/>
              <a:t>square </a:t>
            </a:r>
            <a:r>
              <a:rPr lang="en" dirty="0"/>
              <a:t>error </a:t>
            </a:r>
            <a:r>
              <a:rPr lang="en-GB" dirty="0"/>
              <a:t>for a variable that takes values between 0 and 1.</a:t>
            </a:r>
            <a:endParaRPr lang="es-MX" dirty="0"/>
          </a:p>
        </p:txBody>
      </p:sp>
      <p:pic>
        <p:nvPicPr>
          <p:cNvPr id="9" name="Imagen 8">
            <a:extLst>
              <a:ext uri="{FF2B5EF4-FFF2-40B4-BE49-F238E27FC236}">
                <a16:creationId xmlns:a16="http://schemas.microsoft.com/office/drawing/2014/main" id="{46369230-A374-45B2-94CF-C72FA4BE0D1C}"/>
              </a:ext>
            </a:extLst>
          </p:cNvPr>
          <p:cNvPicPr>
            <a:picLocks noChangeAspect="1"/>
          </p:cNvPicPr>
          <p:nvPr/>
        </p:nvPicPr>
        <p:blipFill>
          <a:blip r:embed="rId2"/>
          <a:stretch>
            <a:fillRect/>
          </a:stretch>
        </p:blipFill>
        <p:spPr>
          <a:xfrm>
            <a:off x="1548765" y="3567747"/>
            <a:ext cx="8667750" cy="1876425"/>
          </a:xfrm>
          <a:prstGeom prst="rect">
            <a:avLst/>
          </a:prstGeom>
        </p:spPr>
      </p:pic>
    </p:spTree>
    <p:extLst>
      <p:ext uri="{BB962C8B-B14F-4D97-AF65-F5344CB8AC3E}">
        <p14:creationId xmlns:p14="http://schemas.microsoft.com/office/powerpoint/2010/main" val="2573558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EC7FF834-B204-4967-8D47-8BB36EAF0E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F780A22D-61EA-43E3-BD94-3E39CF902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18509"/>
            <a:ext cx="12192000" cy="193949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9ADC365-5DDE-C24B-82D8-6EC1686866B8}"/>
              </a:ext>
            </a:extLst>
          </p:cNvPr>
          <p:cNvSpPr>
            <a:spLocks noGrp="1"/>
          </p:cNvSpPr>
          <p:nvPr>
            <p:ph type="title"/>
          </p:nvPr>
        </p:nvSpPr>
        <p:spPr>
          <a:xfrm>
            <a:off x="1600200" y="5255873"/>
            <a:ext cx="8991600" cy="1264762"/>
          </a:xfrm>
        </p:spPr>
        <p:txBody>
          <a:bodyPr vert="horz" lIns="274320" tIns="182880" rIns="274320" bIns="182880" rtlCol="0" anchor="ctr" anchorCtr="1">
            <a:normAutofit/>
          </a:bodyPr>
          <a:lstStyle/>
          <a:p>
            <a:r>
              <a:rPr lang="en-US" sz="3200" dirty="0"/>
              <a:t>K–nearest </a:t>
            </a:r>
            <a:r>
              <a:rPr lang="en-US" sz="3200" dirty="0" err="1"/>
              <a:t>neighboUr</a:t>
            </a:r>
            <a:endParaRPr lang="en-US" sz="3200" dirty="0"/>
          </a:p>
        </p:txBody>
      </p:sp>
      <p:sp>
        <p:nvSpPr>
          <p:cNvPr id="4" name="Rectángulo 3">
            <a:extLst>
              <a:ext uri="{FF2B5EF4-FFF2-40B4-BE49-F238E27FC236}">
                <a16:creationId xmlns:a16="http://schemas.microsoft.com/office/drawing/2014/main" id="{4600C718-35E5-8E4E-B6B0-EEB406D0D1D6}"/>
              </a:ext>
            </a:extLst>
          </p:cNvPr>
          <p:cNvSpPr/>
          <p:nvPr/>
        </p:nvSpPr>
        <p:spPr>
          <a:xfrm>
            <a:off x="586412" y="2265657"/>
            <a:ext cx="6430837" cy="1605568"/>
          </a:xfrm>
          <a:prstGeom prst="rect">
            <a:avLst/>
          </a:prstGeom>
        </p:spPr>
        <p:txBody>
          <a:bodyPr wrap="square">
            <a:spAutoFit/>
          </a:bodyPr>
          <a:lstStyle/>
          <a:p>
            <a:pPr marL="342900" indent="-342900" algn="just" defTabSz="914400" fontAlgn="base">
              <a:spcBef>
                <a:spcPts val="1000"/>
              </a:spcBef>
              <a:buClr>
                <a:schemeClr val="accent2"/>
              </a:buClr>
              <a:buFont typeface="Arial" panose="020B0604020202020204" pitchFamily="34" charset="0"/>
              <a:buChar char="•"/>
            </a:pPr>
            <a:r>
              <a:rPr lang="en" dirty="0"/>
              <a:t>The performance of the model is tested with 20 different values for K: all the odd numbers between 1 and 40. </a:t>
            </a:r>
          </a:p>
          <a:p>
            <a:pPr marL="342900" indent="-342900" algn="just" defTabSz="914400" fontAlgn="base">
              <a:spcBef>
                <a:spcPts val="1000"/>
              </a:spcBef>
              <a:buClr>
                <a:schemeClr val="accent2"/>
              </a:buClr>
              <a:buFont typeface="Arial" panose="020B0604020202020204" pitchFamily="34" charset="0"/>
              <a:buChar char="•"/>
            </a:pPr>
            <a:r>
              <a:rPr lang="en" dirty="0"/>
              <a:t>Using this approach, the optimum is K=19, with an accuracy of 53.1%.  </a:t>
            </a:r>
            <a:r>
              <a:rPr lang="en-GB" dirty="0"/>
              <a:t>However, no clear relation between accuracy and K value is observed in the plot.</a:t>
            </a:r>
            <a:endParaRPr lang="es-MX" dirty="0"/>
          </a:p>
        </p:txBody>
      </p:sp>
      <p:sp>
        <p:nvSpPr>
          <p:cNvPr id="3" name="Marcador de número de diapositiva 2">
            <a:extLst>
              <a:ext uri="{FF2B5EF4-FFF2-40B4-BE49-F238E27FC236}">
                <a16:creationId xmlns:a16="http://schemas.microsoft.com/office/drawing/2014/main" id="{A6F529D3-F605-B146-BFAC-A4FC03627A8E}"/>
              </a:ext>
            </a:extLst>
          </p:cNvPr>
          <p:cNvSpPr>
            <a:spLocks noGrp="1"/>
          </p:cNvSpPr>
          <p:nvPr>
            <p:ph type="sldNum" sz="quarter" idx="12"/>
          </p:nvPr>
        </p:nvSpPr>
        <p:spPr/>
        <p:txBody>
          <a:bodyPr/>
          <a:lstStyle/>
          <a:p>
            <a:fld id="{7EDAA5DF-D255-414A-BAD6-30287712E47C}" type="slidenum">
              <a:rPr lang="es-MX" smtClean="0"/>
              <a:t>12</a:t>
            </a:fld>
            <a:endParaRPr lang="es-MX"/>
          </a:p>
        </p:txBody>
      </p:sp>
      <p:pic>
        <p:nvPicPr>
          <p:cNvPr id="16386" name="Picture 2" descr="https://lh6.googleusercontent.com/Cdjhqmh7zxI05dsx3q15tx0sOvHYN8-xlUcJxNYQYRSDACfBTp4zcgVjKUzRknSDn_l0DwQ9tTyZcx7bD1s3_bXw85E5s8E8Da4rKUCNEKQlLfBlR736R1t5lBHHms7FPuzag-LB">
            <a:extLst>
              <a:ext uri="{FF2B5EF4-FFF2-40B4-BE49-F238E27FC236}">
                <a16:creationId xmlns:a16="http://schemas.microsoft.com/office/drawing/2014/main" id="{B9F3C181-4272-8B43-871A-ED0AEEC552E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7051272" y="2208168"/>
            <a:ext cx="4554316" cy="2652851"/>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6491067C-8EC6-4076-9473-04EE24B0C22D}"/>
              </a:ext>
            </a:extLst>
          </p:cNvPr>
          <p:cNvSpPr/>
          <p:nvPr/>
        </p:nvSpPr>
        <p:spPr>
          <a:xfrm>
            <a:off x="246031" y="533453"/>
            <a:ext cx="11508547" cy="923330"/>
          </a:xfrm>
          <a:prstGeom prst="rect">
            <a:avLst/>
          </a:prstGeom>
        </p:spPr>
        <p:txBody>
          <a:bodyPr wrap="square">
            <a:spAutoFit/>
          </a:bodyPr>
          <a:lstStyle/>
          <a:p>
            <a:pPr marL="342900" indent="-342900" defTabSz="914400" fontAlgn="base">
              <a:spcBef>
                <a:spcPts val="1000"/>
              </a:spcBef>
              <a:buClr>
                <a:schemeClr val="accent2"/>
              </a:buClr>
              <a:buFont typeface="Arial" panose="020B0604020202020204" pitchFamily="34" charset="0"/>
              <a:buChar char="•"/>
            </a:pPr>
            <a:r>
              <a:rPr lang="en-GB" dirty="0"/>
              <a:t>The probability of belonging to class ‘</a:t>
            </a:r>
            <a:r>
              <a:rPr lang="en-GB" i="1" dirty="0"/>
              <a:t>Up</a:t>
            </a:r>
            <a:r>
              <a:rPr lang="en-GB" dirty="0"/>
              <a:t>’ is computed according to the proportion of neighbours that belongs to that class:</a:t>
            </a:r>
            <a:r>
              <a:rPr lang="en" dirty="0"/>
              <a:t> </a:t>
            </a:r>
            <a:br>
              <a:rPr lang="en" dirty="0"/>
            </a:br>
            <a:endParaRPr lang="es-MX" dirty="0"/>
          </a:p>
        </p:txBody>
      </p:sp>
      <p:pic>
        <p:nvPicPr>
          <p:cNvPr id="5" name="Imagen 4">
            <a:extLst>
              <a:ext uri="{FF2B5EF4-FFF2-40B4-BE49-F238E27FC236}">
                <a16:creationId xmlns:a16="http://schemas.microsoft.com/office/drawing/2014/main" id="{430CDB16-6EBF-427D-B13C-701DBA26F00D}"/>
              </a:ext>
            </a:extLst>
          </p:cNvPr>
          <p:cNvPicPr>
            <a:picLocks noChangeAspect="1"/>
          </p:cNvPicPr>
          <p:nvPr/>
        </p:nvPicPr>
        <p:blipFill rotWithShape="1">
          <a:blip r:embed="rId4"/>
          <a:srcRect r="3476"/>
          <a:stretch/>
        </p:blipFill>
        <p:spPr>
          <a:xfrm>
            <a:off x="3459900" y="1133197"/>
            <a:ext cx="4554317" cy="742478"/>
          </a:xfrm>
          <a:prstGeom prst="rect">
            <a:avLst/>
          </a:prstGeom>
        </p:spPr>
      </p:pic>
    </p:spTree>
    <p:extLst>
      <p:ext uri="{BB962C8B-B14F-4D97-AF65-F5344CB8AC3E}">
        <p14:creationId xmlns:p14="http://schemas.microsoft.com/office/powerpoint/2010/main" val="2836985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EC7FF834-B204-4967-8D47-8BB36EAF0E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F780A22D-61EA-43E3-BD94-3E39CF902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18509"/>
            <a:ext cx="12192000" cy="193949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9ADC365-5DDE-C24B-82D8-6EC1686866B8}"/>
              </a:ext>
            </a:extLst>
          </p:cNvPr>
          <p:cNvSpPr>
            <a:spLocks noGrp="1"/>
          </p:cNvSpPr>
          <p:nvPr>
            <p:ph type="title"/>
          </p:nvPr>
        </p:nvSpPr>
        <p:spPr>
          <a:xfrm>
            <a:off x="1600200" y="5255873"/>
            <a:ext cx="8991600" cy="1264762"/>
          </a:xfrm>
        </p:spPr>
        <p:txBody>
          <a:bodyPr vert="horz" lIns="274320" tIns="182880" rIns="274320" bIns="182880" rtlCol="0" anchor="ctr" anchorCtr="1">
            <a:normAutofit/>
          </a:bodyPr>
          <a:lstStyle/>
          <a:p>
            <a:r>
              <a:rPr lang="en-US" sz="3200" dirty="0"/>
              <a:t>K–nearest </a:t>
            </a:r>
            <a:r>
              <a:rPr lang="en-US" sz="3200" dirty="0" err="1"/>
              <a:t>neighbour</a:t>
            </a:r>
            <a:endParaRPr lang="en-US" sz="3200" dirty="0"/>
          </a:p>
        </p:txBody>
      </p:sp>
      <p:sp>
        <p:nvSpPr>
          <p:cNvPr id="4" name="Rectángulo 3">
            <a:extLst>
              <a:ext uri="{FF2B5EF4-FFF2-40B4-BE49-F238E27FC236}">
                <a16:creationId xmlns:a16="http://schemas.microsoft.com/office/drawing/2014/main" id="{4600C718-35E5-8E4E-B6B0-EEB406D0D1D6}"/>
              </a:ext>
            </a:extLst>
          </p:cNvPr>
          <p:cNvSpPr/>
          <p:nvPr/>
        </p:nvSpPr>
        <p:spPr>
          <a:xfrm>
            <a:off x="642584" y="465477"/>
            <a:ext cx="11213123" cy="4442242"/>
          </a:xfrm>
          <a:prstGeom prst="rect">
            <a:avLst/>
          </a:prstGeom>
        </p:spPr>
        <p:txBody>
          <a:bodyPr wrap="square">
            <a:spAutoFit/>
          </a:bodyPr>
          <a:lstStyle/>
          <a:p>
            <a:pPr marL="342900" indent="-342900" algn="just" defTabSz="914400" fontAlgn="base">
              <a:spcBef>
                <a:spcPts val="1000"/>
              </a:spcBef>
              <a:buClr>
                <a:schemeClr val="accent2"/>
              </a:buClr>
              <a:buFont typeface="Arial" panose="020B0604020202020204" pitchFamily="34" charset="0"/>
              <a:buChar char="•"/>
            </a:pPr>
            <a:r>
              <a:rPr lang="en" b="1" dirty="0"/>
              <a:t>Accuracy</a:t>
            </a:r>
            <a:r>
              <a:rPr lang="en" dirty="0"/>
              <a:t> over the validation set is </a:t>
            </a:r>
            <a:r>
              <a:rPr lang="en" b="1" dirty="0"/>
              <a:t>53.1 %</a:t>
            </a:r>
            <a:r>
              <a:rPr lang="en" dirty="0"/>
              <a:t>.  As for the previous models, this is a poor performance that is only slightly better than assigning the classes randomly.</a:t>
            </a:r>
          </a:p>
          <a:p>
            <a:pPr marL="342900" indent="-342900" algn="just" defTabSz="914400" fontAlgn="base">
              <a:spcBef>
                <a:spcPts val="1000"/>
              </a:spcBef>
              <a:buClr>
                <a:schemeClr val="accent2"/>
              </a:buClr>
              <a:buFont typeface="Arial" panose="020B0604020202020204" pitchFamily="34" charset="0"/>
              <a:buChar char="•"/>
            </a:pPr>
            <a:r>
              <a:rPr lang="en" b="1" dirty="0"/>
              <a:t>Sensitivity</a:t>
            </a:r>
            <a:r>
              <a:rPr lang="en" dirty="0"/>
              <a:t> (</a:t>
            </a:r>
            <a:r>
              <a:rPr lang="en-GB" dirty="0"/>
              <a:t>true positives) is </a:t>
            </a:r>
            <a:r>
              <a:rPr lang="en" b="1" dirty="0"/>
              <a:t>69.4%</a:t>
            </a:r>
            <a:r>
              <a:rPr lang="en" dirty="0"/>
              <a:t> and </a:t>
            </a:r>
            <a:r>
              <a:rPr lang="en-GB" b="1" dirty="0"/>
              <a:t>Specificity </a:t>
            </a:r>
            <a:r>
              <a:rPr lang="en-GB" dirty="0"/>
              <a:t>(true negatives) is</a:t>
            </a:r>
            <a:r>
              <a:rPr lang="en" dirty="0"/>
              <a:t> </a:t>
            </a:r>
            <a:r>
              <a:rPr lang="en" b="1" dirty="0"/>
              <a:t>33.0%.</a:t>
            </a:r>
            <a:r>
              <a:rPr lang="en" dirty="0"/>
              <a:t> </a:t>
            </a:r>
            <a:r>
              <a:rPr lang="en-GB" dirty="0"/>
              <a:t>The distribution of the predicted classes in this case is 68% of ‘</a:t>
            </a:r>
            <a:r>
              <a:rPr lang="en-GB" i="1" dirty="0"/>
              <a:t>Up</a:t>
            </a:r>
            <a:r>
              <a:rPr lang="en-GB" dirty="0"/>
              <a:t>’ and 32% of ‘</a:t>
            </a:r>
            <a:r>
              <a:rPr lang="en-GB" i="1" dirty="0"/>
              <a:t>Down</a:t>
            </a:r>
            <a:r>
              <a:rPr lang="en-GB" dirty="0"/>
              <a:t>’, which is still a little biased towards ‘</a:t>
            </a:r>
            <a:r>
              <a:rPr lang="en-GB" i="1" dirty="0"/>
              <a:t>Up</a:t>
            </a:r>
            <a:r>
              <a:rPr lang="en-GB" dirty="0"/>
              <a:t>’.</a:t>
            </a:r>
            <a:endParaRPr lang="en" dirty="0"/>
          </a:p>
          <a:p>
            <a:pPr marL="342900" indent="-342900" algn="just" defTabSz="914400" fontAlgn="base">
              <a:spcBef>
                <a:spcPts val="1000"/>
              </a:spcBef>
              <a:buClr>
                <a:schemeClr val="accent2"/>
              </a:buClr>
              <a:buFont typeface="Arial" panose="020B0604020202020204" pitchFamily="34" charset="0"/>
              <a:buChar char="•"/>
            </a:pPr>
            <a:endParaRPr lang="en" dirty="0"/>
          </a:p>
          <a:p>
            <a:pPr marL="342900" indent="-342900" algn="just" defTabSz="914400" fontAlgn="base">
              <a:spcBef>
                <a:spcPts val="1000"/>
              </a:spcBef>
              <a:buClr>
                <a:schemeClr val="accent2"/>
              </a:buClr>
              <a:buFont typeface="Arial" panose="020B0604020202020204" pitchFamily="34" charset="0"/>
              <a:buChar char="•"/>
            </a:pPr>
            <a:endParaRPr lang="en" dirty="0"/>
          </a:p>
          <a:p>
            <a:pPr marL="342900" indent="-342900" algn="just" defTabSz="914400" fontAlgn="base">
              <a:spcBef>
                <a:spcPts val="1000"/>
              </a:spcBef>
              <a:buClr>
                <a:schemeClr val="accent2"/>
              </a:buClr>
              <a:buFont typeface="Arial" panose="020B0604020202020204" pitchFamily="34" charset="0"/>
              <a:buChar char="•"/>
            </a:pPr>
            <a:endParaRPr lang="en" dirty="0"/>
          </a:p>
          <a:p>
            <a:pPr marL="342900" indent="-342900" algn="just" defTabSz="914400" fontAlgn="base">
              <a:spcBef>
                <a:spcPts val="1000"/>
              </a:spcBef>
              <a:buClr>
                <a:schemeClr val="accent2"/>
              </a:buClr>
              <a:buFont typeface="Arial" panose="020B0604020202020204" pitchFamily="34" charset="0"/>
              <a:buChar char="•"/>
            </a:pPr>
            <a:endParaRPr lang="en" dirty="0"/>
          </a:p>
          <a:p>
            <a:pPr marL="342900" indent="-342900" algn="just" defTabSz="914400" fontAlgn="base">
              <a:spcBef>
                <a:spcPts val="1000"/>
              </a:spcBef>
              <a:buClr>
                <a:schemeClr val="accent2"/>
              </a:buClr>
              <a:buFont typeface="Arial" panose="020B0604020202020204" pitchFamily="34" charset="0"/>
              <a:buChar char="•"/>
            </a:pPr>
            <a:endParaRPr lang="en" dirty="0"/>
          </a:p>
          <a:p>
            <a:pPr marL="342900" indent="-342900" algn="just" defTabSz="914400" fontAlgn="base">
              <a:spcBef>
                <a:spcPts val="1000"/>
              </a:spcBef>
              <a:buClr>
                <a:schemeClr val="accent2"/>
              </a:buClr>
              <a:buFont typeface="Arial" panose="020B0604020202020204" pitchFamily="34" charset="0"/>
              <a:buChar char="•"/>
            </a:pPr>
            <a:endParaRPr lang="en" dirty="0"/>
          </a:p>
          <a:p>
            <a:pPr marL="342900" indent="-342900" algn="just" defTabSz="914400" fontAlgn="base">
              <a:spcBef>
                <a:spcPts val="1000"/>
              </a:spcBef>
              <a:buClr>
                <a:schemeClr val="accent2"/>
              </a:buClr>
              <a:buFont typeface="Arial" panose="020B0604020202020204" pitchFamily="34" charset="0"/>
              <a:buChar char="•"/>
            </a:pPr>
            <a:r>
              <a:rPr lang="en-GB" dirty="0"/>
              <a:t>The </a:t>
            </a:r>
            <a:r>
              <a:rPr lang="en" dirty="0"/>
              <a:t>Average Mean Square Error when using a </a:t>
            </a:r>
            <a:r>
              <a:rPr lang="en" b="1" dirty="0"/>
              <a:t>leave-one-out cross-validation </a:t>
            </a:r>
            <a:r>
              <a:rPr lang="en" dirty="0"/>
              <a:t>approach is</a:t>
            </a:r>
            <a:r>
              <a:rPr lang="en" b="1" dirty="0"/>
              <a:t> 0.160</a:t>
            </a:r>
            <a:r>
              <a:rPr lang="en" dirty="0"/>
              <a:t>. This is the lowest MSE of the three techniques.</a:t>
            </a:r>
            <a:endParaRPr lang="es-MX" dirty="0"/>
          </a:p>
        </p:txBody>
      </p:sp>
      <p:sp>
        <p:nvSpPr>
          <p:cNvPr id="3" name="Marcador de número de diapositiva 2">
            <a:extLst>
              <a:ext uri="{FF2B5EF4-FFF2-40B4-BE49-F238E27FC236}">
                <a16:creationId xmlns:a16="http://schemas.microsoft.com/office/drawing/2014/main" id="{A6F529D3-F605-B146-BFAC-A4FC03627A8E}"/>
              </a:ext>
            </a:extLst>
          </p:cNvPr>
          <p:cNvSpPr>
            <a:spLocks noGrp="1"/>
          </p:cNvSpPr>
          <p:nvPr>
            <p:ph type="sldNum" sz="quarter" idx="12"/>
          </p:nvPr>
        </p:nvSpPr>
        <p:spPr/>
        <p:txBody>
          <a:bodyPr/>
          <a:lstStyle/>
          <a:p>
            <a:fld id="{7EDAA5DF-D255-414A-BAD6-30287712E47C}" type="slidenum">
              <a:rPr lang="es-MX" smtClean="0"/>
              <a:t>13</a:t>
            </a:fld>
            <a:endParaRPr lang="es-MX"/>
          </a:p>
        </p:txBody>
      </p:sp>
      <p:pic>
        <p:nvPicPr>
          <p:cNvPr id="8" name="image5.png">
            <a:extLst>
              <a:ext uri="{FF2B5EF4-FFF2-40B4-BE49-F238E27FC236}">
                <a16:creationId xmlns:a16="http://schemas.microsoft.com/office/drawing/2014/main" id="{47F7F37F-F4D5-4090-AFF2-ED5BDBB183E5}"/>
              </a:ext>
            </a:extLst>
          </p:cNvPr>
          <p:cNvPicPr/>
          <p:nvPr/>
        </p:nvPicPr>
        <p:blipFill>
          <a:blip r:embed="rId2"/>
          <a:srcRect/>
          <a:stretch>
            <a:fillRect/>
          </a:stretch>
        </p:blipFill>
        <p:spPr>
          <a:xfrm>
            <a:off x="2770822" y="1851052"/>
            <a:ext cx="5875338" cy="2101850"/>
          </a:xfrm>
          <a:prstGeom prst="rect">
            <a:avLst/>
          </a:prstGeom>
          <a:ln/>
        </p:spPr>
      </p:pic>
    </p:spTree>
    <p:extLst>
      <p:ext uri="{BB962C8B-B14F-4D97-AF65-F5344CB8AC3E}">
        <p14:creationId xmlns:p14="http://schemas.microsoft.com/office/powerpoint/2010/main" val="910944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ADC365-5DDE-C24B-82D8-6EC1686866B8}"/>
              </a:ext>
            </a:extLst>
          </p:cNvPr>
          <p:cNvSpPr>
            <a:spLocks noGrp="1"/>
          </p:cNvSpPr>
          <p:nvPr>
            <p:ph type="title"/>
          </p:nvPr>
        </p:nvSpPr>
        <p:spPr>
          <a:xfrm>
            <a:off x="2231136" y="368300"/>
            <a:ext cx="7729728" cy="1188720"/>
          </a:xfrm>
        </p:spPr>
        <p:txBody>
          <a:bodyPr/>
          <a:lstStyle/>
          <a:p>
            <a:r>
              <a:rPr lang="es-MX" sz="3200" dirty="0"/>
              <a:t>COMBINED PREDICTORS</a:t>
            </a:r>
          </a:p>
        </p:txBody>
      </p:sp>
      <p:sp>
        <p:nvSpPr>
          <p:cNvPr id="4" name="Marcador de número de diapositiva 3">
            <a:extLst>
              <a:ext uri="{FF2B5EF4-FFF2-40B4-BE49-F238E27FC236}">
                <a16:creationId xmlns:a16="http://schemas.microsoft.com/office/drawing/2014/main" id="{D4FBC93B-5B80-CE43-AA39-9EA6D5AD4ED4}"/>
              </a:ext>
            </a:extLst>
          </p:cNvPr>
          <p:cNvSpPr>
            <a:spLocks noGrp="1"/>
          </p:cNvSpPr>
          <p:nvPr>
            <p:ph type="sldNum" sz="quarter" idx="12"/>
          </p:nvPr>
        </p:nvSpPr>
        <p:spPr/>
        <p:txBody>
          <a:bodyPr/>
          <a:lstStyle/>
          <a:p>
            <a:fld id="{7EDAA5DF-D255-414A-BAD6-30287712E47C}" type="slidenum">
              <a:rPr lang="es-MX" smtClean="0"/>
              <a:t>14</a:t>
            </a:fld>
            <a:endParaRPr lang="es-MX"/>
          </a:p>
        </p:txBody>
      </p:sp>
      <p:sp>
        <p:nvSpPr>
          <p:cNvPr id="5" name="Rectángulo 4">
            <a:extLst>
              <a:ext uri="{FF2B5EF4-FFF2-40B4-BE49-F238E27FC236}">
                <a16:creationId xmlns:a16="http://schemas.microsoft.com/office/drawing/2014/main" id="{E8BA1FB1-DB33-4426-9E72-266EBD1985CA}"/>
              </a:ext>
            </a:extLst>
          </p:cNvPr>
          <p:cNvSpPr/>
          <p:nvPr/>
        </p:nvSpPr>
        <p:spPr>
          <a:xfrm>
            <a:off x="802899" y="2157691"/>
            <a:ext cx="10586202" cy="646331"/>
          </a:xfrm>
          <a:prstGeom prst="rect">
            <a:avLst/>
          </a:prstGeom>
        </p:spPr>
        <p:txBody>
          <a:bodyPr wrap="square">
            <a:spAutoFit/>
          </a:bodyPr>
          <a:lstStyle/>
          <a:p>
            <a:pPr algn="just" defTabSz="914400" fontAlgn="base">
              <a:spcBef>
                <a:spcPts val="1000"/>
              </a:spcBef>
              <a:buClr>
                <a:schemeClr val="accent2"/>
              </a:buClr>
            </a:pPr>
            <a:r>
              <a:rPr lang="en-GB" dirty="0"/>
              <a:t>This section proposes to fit the models by adding transformations of the original significant features ‘</a:t>
            </a:r>
            <a:r>
              <a:rPr lang="en-GB" i="1" dirty="0"/>
              <a:t>Lag1’, ‘Lag2’,</a:t>
            </a:r>
            <a:r>
              <a:rPr lang="en-GB" dirty="0"/>
              <a:t> and ‘</a:t>
            </a:r>
            <a:r>
              <a:rPr lang="en-GB" i="1" dirty="0"/>
              <a:t>Volume’</a:t>
            </a:r>
            <a:r>
              <a:rPr lang="en-GB" dirty="0"/>
              <a:t> to achieve better performance. Three combined variables were tested:</a:t>
            </a:r>
            <a:endParaRPr lang="es-MX" dirty="0"/>
          </a:p>
        </p:txBody>
      </p:sp>
      <p:sp>
        <p:nvSpPr>
          <p:cNvPr id="6" name="Rectángulo 5">
            <a:extLst>
              <a:ext uri="{FF2B5EF4-FFF2-40B4-BE49-F238E27FC236}">
                <a16:creationId xmlns:a16="http://schemas.microsoft.com/office/drawing/2014/main" id="{A2929E54-CF2B-4297-BF73-CDE72BD27734}"/>
              </a:ext>
            </a:extLst>
          </p:cNvPr>
          <p:cNvSpPr/>
          <p:nvPr/>
        </p:nvSpPr>
        <p:spPr>
          <a:xfrm>
            <a:off x="2149856" y="3305508"/>
            <a:ext cx="8253984" cy="1179810"/>
          </a:xfrm>
          <a:prstGeom prst="rect">
            <a:avLst/>
          </a:prstGeom>
        </p:spPr>
        <p:txBody>
          <a:bodyPr wrap="square">
            <a:spAutoFit/>
          </a:bodyPr>
          <a:lstStyle/>
          <a:p>
            <a:pPr marL="285750" indent="-285750" defTabSz="914400" fontAlgn="base">
              <a:spcBef>
                <a:spcPts val="1000"/>
              </a:spcBef>
              <a:buClr>
                <a:schemeClr val="accent2"/>
              </a:buClr>
              <a:buFont typeface="Arial" panose="020B0604020202020204" pitchFamily="34" charset="0"/>
              <a:buChar char="•"/>
            </a:pPr>
            <a:r>
              <a:rPr lang="es-MX" dirty="0"/>
              <a:t>FEATURES TEST 1:  Lag1, Lag2,  </a:t>
            </a:r>
            <a:r>
              <a:rPr lang="es-MX" dirty="0" err="1"/>
              <a:t>Volume</a:t>
            </a:r>
            <a:r>
              <a:rPr lang="es-MX" dirty="0"/>
              <a:t> and </a:t>
            </a:r>
            <a:r>
              <a:rPr lang="es-MX" b="1" dirty="0"/>
              <a:t>Lag1/Lag2</a:t>
            </a:r>
          </a:p>
          <a:p>
            <a:pPr marL="285750" indent="-285750" defTabSz="914400" fontAlgn="base">
              <a:spcBef>
                <a:spcPts val="1000"/>
              </a:spcBef>
              <a:buClr>
                <a:schemeClr val="accent2"/>
              </a:buClr>
              <a:buFont typeface="Arial" panose="020B0604020202020204" pitchFamily="34" charset="0"/>
              <a:buChar char="•"/>
            </a:pPr>
            <a:r>
              <a:rPr lang="es-MX" dirty="0"/>
              <a:t>FEATURES TEST 2: Lag1, Lag2,  </a:t>
            </a:r>
            <a:r>
              <a:rPr lang="es-MX" dirty="0" err="1"/>
              <a:t>Volume</a:t>
            </a:r>
            <a:r>
              <a:rPr lang="es-MX" dirty="0"/>
              <a:t> and </a:t>
            </a:r>
            <a:r>
              <a:rPr lang="es-MX" b="1" dirty="0"/>
              <a:t>Lag1*Lag2</a:t>
            </a:r>
          </a:p>
          <a:p>
            <a:pPr marL="285750" indent="-285750" defTabSz="914400" fontAlgn="base">
              <a:spcBef>
                <a:spcPts val="1000"/>
              </a:spcBef>
              <a:buClr>
                <a:schemeClr val="accent2"/>
              </a:buClr>
              <a:buFont typeface="Arial" panose="020B0604020202020204" pitchFamily="34" charset="0"/>
              <a:buChar char="•"/>
            </a:pPr>
            <a:r>
              <a:rPr lang="es-MX" dirty="0"/>
              <a:t>FEATURES: TEST 3 Lag1, Lag2,  </a:t>
            </a:r>
            <a:r>
              <a:rPr lang="es-MX" dirty="0" err="1"/>
              <a:t>Volume</a:t>
            </a:r>
            <a:r>
              <a:rPr lang="es-MX" dirty="0"/>
              <a:t> and  </a:t>
            </a:r>
            <a:r>
              <a:rPr lang="es-MX" b="1" dirty="0" err="1"/>
              <a:t>Volume</a:t>
            </a:r>
            <a:r>
              <a:rPr lang="es-MX" b="1" dirty="0"/>
              <a:t>(Lag1)/</a:t>
            </a:r>
            <a:r>
              <a:rPr lang="es-MX" b="1" dirty="0" err="1"/>
              <a:t>Volume</a:t>
            </a:r>
            <a:r>
              <a:rPr lang="es-MX" b="1" dirty="0"/>
              <a:t>(Lag2)</a:t>
            </a:r>
          </a:p>
        </p:txBody>
      </p:sp>
      <p:sp>
        <p:nvSpPr>
          <p:cNvPr id="11" name="Rectángulo 10">
            <a:extLst>
              <a:ext uri="{FF2B5EF4-FFF2-40B4-BE49-F238E27FC236}">
                <a16:creationId xmlns:a16="http://schemas.microsoft.com/office/drawing/2014/main" id="{399A1103-F8E0-4F81-8AA6-50AC814C81F1}"/>
              </a:ext>
            </a:extLst>
          </p:cNvPr>
          <p:cNvSpPr/>
          <p:nvPr/>
        </p:nvSpPr>
        <p:spPr>
          <a:xfrm>
            <a:off x="983747" y="5309969"/>
            <a:ext cx="10586202" cy="369332"/>
          </a:xfrm>
          <a:prstGeom prst="rect">
            <a:avLst/>
          </a:prstGeom>
        </p:spPr>
        <p:txBody>
          <a:bodyPr wrap="square">
            <a:spAutoFit/>
          </a:bodyPr>
          <a:lstStyle/>
          <a:p>
            <a:pPr algn="just" defTabSz="914400" fontAlgn="base">
              <a:spcBef>
                <a:spcPts val="1000"/>
              </a:spcBef>
              <a:buClr>
                <a:schemeClr val="accent2"/>
              </a:buClr>
            </a:pPr>
            <a:r>
              <a:rPr lang="es-MX" dirty="0" err="1"/>
              <a:t>The</a:t>
            </a:r>
            <a:r>
              <a:rPr lang="es-MX" dirty="0"/>
              <a:t> </a:t>
            </a:r>
            <a:r>
              <a:rPr lang="es-MX" dirty="0" err="1"/>
              <a:t>included</a:t>
            </a:r>
            <a:r>
              <a:rPr lang="es-MX" dirty="0"/>
              <a:t> </a:t>
            </a:r>
            <a:r>
              <a:rPr lang="es-MX" dirty="0" err="1"/>
              <a:t>features</a:t>
            </a:r>
            <a:r>
              <a:rPr lang="es-MX" dirty="0"/>
              <a:t> </a:t>
            </a:r>
            <a:r>
              <a:rPr lang="es-MX" dirty="0" err="1"/>
              <a:t>were</a:t>
            </a:r>
            <a:r>
              <a:rPr lang="es-MX" dirty="0"/>
              <a:t> </a:t>
            </a:r>
            <a:r>
              <a:rPr lang="es-MX" dirty="0" err="1"/>
              <a:t>not</a:t>
            </a:r>
            <a:r>
              <a:rPr lang="es-MX" dirty="0"/>
              <a:t> </a:t>
            </a:r>
            <a:r>
              <a:rPr lang="es-MX" dirty="0" err="1"/>
              <a:t>significant</a:t>
            </a:r>
            <a:r>
              <a:rPr lang="es-MX" dirty="0"/>
              <a:t> and </a:t>
            </a:r>
            <a:r>
              <a:rPr lang="es-MX" dirty="0" err="1"/>
              <a:t>the</a:t>
            </a:r>
            <a:r>
              <a:rPr lang="es-MX" dirty="0"/>
              <a:t> performance scores do </a:t>
            </a:r>
            <a:r>
              <a:rPr lang="es-MX" dirty="0" err="1"/>
              <a:t>not</a:t>
            </a:r>
            <a:r>
              <a:rPr lang="es-MX" dirty="0"/>
              <a:t> show </a:t>
            </a:r>
            <a:r>
              <a:rPr lang="es-MX" dirty="0" err="1"/>
              <a:t>improvements</a:t>
            </a:r>
            <a:r>
              <a:rPr lang="es-MX" dirty="0"/>
              <a:t>.</a:t>
            </a:r>
          </a:p>
        </p:txBody>
      </p:sp>
    </p:spTree>
    <p:extLst>
      <p:ext uri="{BB962C8B-B14F-4D97-AF65-F5344CB8AC3E}">
        <p14:creationId xmlns:p14="http://schemas.microsoft.com/office/powerpoint/2010/main" val="23511237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EC7FF834-B204-4967-8D47-8BB36EAF0E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F780A22D-61EA-43E3-BD94-3E39CF902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18509"/>
            <a:ext cx="12192000" cy="193949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número de diapositiva 2">
            <a:extLst>
              <a:ext uri="{FF2B5EF4-FFF2-40B4-BE49-F238E27FC236}">
                <a16:creationId xmlns:a16="http://schemas.microsoft.com/office/drawing/2014/main" id="{A6F529D3-F605-B146-BFAC-A4FC03627A8E}"/>
              </a:ext>
            </a:extLst>
          </p:cNvPr>
          <p:cNvSpPr>
            <a:spLocks noGrp="1"/>
          </p:cNvSpPr>
          <p:nvPr>
            <p:ph type="sldNum" sz="quarter" idx="12"/>
          </p:nvPr>
        </p:nvSpPr>
        <p:spPr/>
        <p:txBody>
          <a:bodyPr/>
          <a:lstStyle/>
          <a:p>
            <a:fld id="{7EDAA5DF-D255-414A-BAD6-30287712E47C}" type="slidenum">
              <a:rPr lang="es-MX" smtClean="0"/>
              <a:t>15</a:t>
            </a:fld>
            <a:endParaRPr lang="es-MX"/>
          </a:p>
        </p:txBody>
      </p:sp>
      <p:sp>
        <p:nvSpPr>
          <p:cNvPr id="9" name="Título 1">
            <a:extLst>
              <a:ext uri="{FF2B5EF4-FFF2-40B4-BE49-F238E27FC236}">
                <a16:creationId xmlns:a16="http://schemas.microsoft.com/office/drawing/2014/main" id="{A8D45506-D5B3-4B17-B1A3-C05E4A8D39B3}"/>
              </a:ext>
            </a:extLst>
          </p:cNvPr>
          <p:cNvSpPr txBox="1">
            <a:spLocks/>
          </p:cNvSpPr>
          <p:nvPr/>
        </p:nvSpPr>
        <p:spPr bwMode="black">
          <a:xfrm>
            <a:off x="2231135" y="535295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r>
              <a:rPr lang="es-MX" sz="3200" dirty="0"/>
              <a:t>CONCLUSION</a:t>
            </a:r>
          </a:p>
        </p:txBody>
      </p:sp>
      <p:sp>
        <p:nvSpPr>
          <p:cNvPr id="7" name="Rectángulo 6">
            <a:extLst>
              <a:ext uri="{FF2B5EF4-FFF2-40B4-BE49-F238E27FC236}">
                <a16:creationId xmlns:a16="http://schemas.microsoft.com/office/drawing/2014/main" id="{027A3E83-E691-4347-97B8-B497B2984C05}"/>
              </a:ext>
            </a:extLst>
          </p:cNvPr>
          <p:cNvSpPr/>
          <p:nvPr/>
        </p:nvSpPr>
        <p:spPr>
          <a:xfrm>
            <a:off x="650240" y="149275"/>
            <a:ext cx="11470640" cy="4801314"/>
          </a:xfrm>
          <a:prstGeom prst="rect">
            <a:avLst/>
          </a:prstGeom>
        </p:spPr>
        <p:txBody>
          <a:bodyPr wrap="square">
            <a:spAutoFit/>
          </a:bodyPr>
          <a:lstStyle/>
          <a:p>
            <a:pPr marL="285750" indent="-285750">
              <a:buFont typeface="Arial" panose="020B0604020202020204" pitchFamily="34" charset="0"/>
              <a:buChar char="•"/>
            </a:pPr>
            <a:r>
              <a:rPr lang="en-GB" dirty="0">
                <a:ea typeface="Times New Roman" panose="02020603050405020304" pitchFamily="18" charset="0"/>
              </a:rPr>
              <a:t>None of the models used in this project shows a good performance.  Accuracy of the predictions is similar in the three techniques (between 53 and 54%).</a:t>
            </a:r>
          </a:p>
          <a:p>
            <a:pPr marL="285750" indent="-285750">
              <a:buFont typeface="Arial" panose="020B0604020202020204" pitchFamily="34" charset="0"/>
              <a:buChar char="•"/>
            </a:pPr>
            <a:endParaRPr lang="en-GB" dirty="0">
              <a:ea typeface="Times New Roman" panose="02020603050405020304" pitchFamily="18" charset="0"/>
            </a:endParaRPr>
          </a:p>
          <a:p>
            <a:pPr marL="285750" indent="-285750">
              <a:buFont typeface="Arial" panose="020B0604020202020204" pitchFamily="34" charset="0"/>
              <a:buChar char="•"/>
            </a:pPr>
            <a:r>
              <a:rPr lang="en-GB" dirty="0">
                <a:ea typeface="Times New Roman" panose="02020603050405020304" pitchFamily="18" charset="0"/>
              </a:rPr>
              <a:t>The Average Mean Square Error of the leave-one-out validation is the lowest for KNN but it is still very high 0.16.</a:t>
            </a:r>
          </a:p>
          <a:p>
            <a:pPr marL="285750" indent="-285750">
              <a:buFont typeface="Arial" panose="020B0604020202020204" pitchFamily="34" charset="0"/>
              <a:buChar char="•"/>
            </a:pPr>
            <a:endParaRPr lang="en-GB" dirty="0">
              <a:ea typeface="Times New Roman" panose="02020603050405020304" pitchFamily="18" charset="0"/>
            </a:endParaRPr>
          </a:p>
          <a:p>
            <a:pPr marL="285750" indent="-285750">
              <a:buFont typeface="Arial" panose="020B0604020202020204" pitchFamily="34" charset="0"/>
              <a:buChar char="•"/>
            </a:pPr>
            <a:r>
              <a:rPr lang="en-GB" dirty="0">
                <a:ea typeface="Times New Roman" panose="02020603050405020304" pitchFamily="18" charset="0"/>
              </a:rPr>
              <a:t>LR and LDA show very high sensitivity and very low specificity.  These models predict over 80% of class ‘</a:t>
            </a:r>
            <a:r>
              <a:rPr lang="en-GB" i="1" dirty="0">
                <a:ea typeface="Times New Roman" panose="02020603050405020304" pitchFamily="18" charset="0"/>
              </a:rPr>
              <a:t>Up</a:t>
            </a:r>
            <a:r>
              <a:rPr lang="en-GB" dirty="0">
                <a:ea typeface="Times New Roman" panose="02020603050405020304" pitchFamily="18" charset="0"/>
              </a:rPr>
              <a:t>’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KNN have a slightly worse sensitivity than the other two techniques, but the specificity is higher.</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Defining the best classifier out of the three depends on the costs of making type I and type II errors.  If the cost of </a:t>
            </a:r>
            <a:r>
              <a:rPr lang="en-GB" i="1" dirty="0"/>
              <a:t>error type I </a:t>
            </a:r>
            <a:r>
              <a:rPr lang="en-GB" dirty="0"/>
              <a:t>(false positive) is high, it is be preferable to choose the model with the higher specificity.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Including combined features does not seem to improve the performances of the models.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Next steps:  to test additional classification techniques, such as SVM and NN, and to model the continuous variable ‘</a:t>
            </a:r>
            <a:r>
              <a:rPr lang="en-GB" i="1" dirty="0"/>
              <a:t>This Week</a:t>
            </a:r>
            <a:r>
              <a:rPr lang="en-GB" dirty="0"/>
              <a:t>’ using linear regression and time series. </a:t>
            </a:r>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34675465"/>
      </p:ext>
    </p:extLst>
  </p:cSld>
  <p:clrMapOvr>
    <a:masterClrMapping/>
  </p:clrMapOvr>
</p:sld>
</file>

<file path=ppt/theme/theme1.xml><?xml version="1.0" encoding="utf-8"?>
<a:theme xmlns:a="http://schemas.openxmlformats.org/drawingml/2006/main" name="Paquete">
  <a:themeElements>
    <a:clrScheme name="Paquete">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quete">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quete">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{CC8B08DE-9BAF-5047-8A0B-FC7C5D789560}tf10001120</Template>
  <TotalTime>180</TotalTime>
  <Words>1118</Words>
  <Application>Microsoft Office PowerPoint</Application>
  <PresentationFormat>Widescreen</PresentationFormat>
  <Paragraphs>102</Paragraphs>
  <Slides>15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Gill Sans MT</vt:lpstr>
      <vt:lpstr>Paquete</vt:lpstr>
      <vt:lpstr>weekly stock prediction</vt:lpstr>
      <vt:lpstr>Content</vt:lpstr>
      <vt:lpstr>Introduction</vt:lpstr>
      <vt:lpstr>Exploratory analysis</vt:lpstr>
      <vt:lpstr>Exploratory analysis</vt:lpstr>
      <vt:lpstr>Exploratory analysis</vt:lpstr>
      <vt:lpstr>TRAINING AND TEST DATASETS</vt:lpstr>
      <vt:lpstr>Logistic REgression</vt:lpstr>
      <vt:lpstr>Logistic REgression</vt:lpstr>
      <vt:lpstr>LINEAR DISCRIMINANT ANALYSis</vt:lpstr>
      <vt:lpstr>LINEAR DISCRIMINANT ANALYSis</vt:lpstr>
      <vt:lpstr>K–nearest neighboUr</vt:lpstr>
      <vt:lpstr>K–nearest neighbour</vt:lpstr>
      <vt:lpstr>COMBINED PREDICTORS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Logistic regression analysis</dc:title>
  <dc:creator>Masetto Garcia, Cynthia M</dc:creator>
  <cp:lastModifiedBy>Suchy, Daniel A</cp:lastModifiedBy>
  <cp:revision>34</cp:revision>
  <dcterms:created xsi:type="dcterms:W3CDTF">2019-03-12T13:15:47Z</dcterms:created>
  <dcterms:modified xsi:type="dcterms:W3CDTF">2019-06-22T22:59:49Z</dcterms:modified>
</cp:coreProperties>
</file>